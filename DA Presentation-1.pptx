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4"/>
  </p:notesMasterIdLst>
  <p:sldIdLst>
    <p:sldId id="256" r:id="rId2"/>
    <p:sldId id="257" r:id="rId3"/>
    <p:sldId id="258" r:id="rId4"/>
    <p:sldId id="260" r:id="rId5"/>
    <p:sldId id="261" r:id="rId6"/>
    <p:sldId id="269" r:id="rId7"/>
    <p:sldId id="262" r:id="rId8"/>
    <p:sldId id="263" r:id="rId9"/>
    <p:sldId id="264" r:id="rId10"/>
    <p:sldId id="265" r:id="rId11"/>
    <p:sldId id="266" r:id="rId12"/>
    <p:sldId id="267" r:id="rId13"/>
    <p:sldId id="268" r:id="rId14"/>
    <p:sldId id="270" r:id="rId15"/>
    <p:sldId id="271" r:id="rId16"/>
    <p:sldId id="272" r:id="rId17"/>
    <p:sldId id="277" r:id="rId18"/>
    <p:sldId id="278" r:id="rId19"/>
    <p:sldId id="259" r:id="rId20"/>
    <p:sldId id="276" r:id="rId21"/>
    <p:sldId id="280"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3"/>
    <p:restoredTop sz="94155"/>
  </p:normalViewPr>
  <p:slideViewPr>
    <p:cSldViewPr snapToGrid="0">
      <p:cViewPr>
        <p:scale>
          <a:sx n="82" d="100"/>
          <a:sy n="82" d="100"/>
        </p:scale>
        <p:origin x="1488" y="9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C67812-9C02-4061-9909-B116B2E565A9}" type="doc">
      <dgm:prSet loTypeId="urn:microsoft.com/office/officeart/2018/5/layout/IconLeaf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6FD7632-90C4-49A1-A498-F9C4BE5FA8BA}">
      <dgm:prSet/>
      <dgm:spPr/>
      <dgm:t>
        <a:bodyPr/>
        <a:lstStyle/>
        <a:p>
          <a:pPr>
            <a:defRPr cap="all"/>
          </a:pPr>
          <a:r>
            <a:rPr lang="en-US"/>
            <a:t>Performed analysis using python on Jupyter Software</a:t>
          </a:r>
        </a:p>
      </dgm:t>
    </dgm:pt>
    <dgm:pt modelId="{F5EE8CB1-7498-4838-9B3F-5F93C44AF44A}" type="parTrans" cxnId="{C70A0303-DE30-41D9-8A65-8FF35182A52C}">
      <dgm:prSet/>
      <dgm:spPr/>
      <dgm:t>
        <a:bodyPr/>
        <a:lstStyle/>
        <a:p>
          <a:endParaRPr lang="en-US"/>
        </a:p>
      </dgm:t>
    </dgm:pt>
    <dgm:pt modelId="{1F6F1FEB-397B-464F-B4D6-E2C210D0B2EA}" type="sibTrans" cxnId="{C70A0303-DE30-41D9-8A65-8FF35182A52C}">
      <dgm:prSet/>
      <dgm:spPr/>
      <dgm:t>
        <a:bodyPr/>
        <a:lstStyle/>
        <a:p>
          <a:endParaRPr lang="en-US"/>
        </a:p>
      </dgm:t>
    </dgm:pt>
    <dgm:pt modelId="{5788674B-DF4B-443F-AB5B-9CA72F17EA1A}">
      <dgm:prSet/>
      <dgm:spPr/>
      <dgm:t>
        <a:bodyPr/>
        <a:lstStyle/>
        <a:p>
          <a:pPr>
            <a:defRPr cap="all"/>
          </a:pPr>
          <a:r>
            <a:rPr lang="en-IN" dirty="0"/>
            <a:t>Descriptively analysed each dataset for insightful information</a:t>
          </a:r>
          <a:endParaRPr lang="en-US" dirty="0"/>
        </a:p>
      </dgm:t>
    </dgm:pt>
    <dgm:pt modelId="{232BC8AD-A9DC-4FE9-81C5-0A5DDA71AC15}" type="parTrans" cxnId="{0110F709-1787-4F2E-B8E9-A1E0E84FD3D5}">
      <dgm:prSet/>
      <dgm:spPr/>
      <dgm:t>
        <a:bodyPr/>
        <a:lstStyle/>
        <a:p>
          <a:endParaRPr lang="en-US"/>
        </a:p>
      </dgm:t>
    </dgm:pt>
    <dgm:pt modelId="{36F72B93-EF0D-4B4F-9A29-2AD33FF70F2C}" type="sibTrans" cxnId="{0110F709-1787-4F2E-B8E9-A1E0E84FD3D5}">
      <dgm:prSet/>
      <dgm:spPr/>
      <dgm:t>
        <a:bodyPr/>
        <a:lstStyle/>
        <a:p>
          <a:endParaRPr lang="en-US"/>
        </a:p>
      </dgm:t>
    </dgm:pt>
    <dgm:pt modelId="{45BB040B-2566-459F-891B-6EC39A3E1D40}">
      <dgm:prSet/>
      <dgm:spPr/>
      <dgm:t>
        <a:bodyPr/>
        <a:lstStyle/>
        <a:p>
          <a:pPr>
            <a:defRPr cap="all"/>
          </a:pPr>
          <a:r>
            <a:rPr lang="en-US"/>
            <a:t>Visualized the data into graphical depictions for the illustrations.</a:t>
          </a:r>
        </a:p>
      </dgm:t>
    </dgm:pt>
    <dgm:pt modelId="{6058A2AB-3D6B-49F8-8F1E-088ECC95E2E3}" type="parTrans" cxnId="{CA634FF6-0C04-4CE8-883F-6A08CE2E7761}">
      <dgm:prSet/>
      <dgm:spPr/>
      <dgm:t>
        <a:bodyPr/>
        <a:lstStyle/>
        <a:p>
          <a:endParaRPr lang="en-US"/>
        </a:p>
      </dgm:t>
    </dgm:pt>
    <dgm:pt modelId="{F20C6CA4-BA3E-4E81-83B2-49F1C5D432B0}" type="sibTrans" cxnId="{CA634FF6-0C04-4CE8-883F-6A08CE2E7761}">
      <dgm:prSet/>
      <dgm:spPr/>
      <dgm:t>
        <a:bodyPr/>
        <a:lstStyle/>
        <a:p>
          <a:endParaRPr lang="en-US"/>
        </a:p>
      </dgm:t>
    </dgm:pt>
    <dgm:pt modelId="{9BC63BCE-FBC0-42C1-B285-4977439897D1}" type="pres">
      <dgm:prSet presAssocID="{6CC67812-9C02-4061-9909-B116B2E565A9}" presName="root" presStyleCnt="0">
        <dgm:presLayoutVars>
          <dgm:dir/>
          <dgm:resizeHandles val="exact"/>
        </dgm:presLayoutVars>
      </dgm:prSet>
      <dgm:spPr/>
    </dgm:pt>
    <dgm:pt modelId="{2888EE19-7808-4D4A-AA6B-C046B6ADD537}" type="pres">
      <dgm:prSet presAssocID="{46FD7632-90C4-49A1-A498-F9C4BE5FA8BA}" presName="compNode" presStyleCnt="0"/>
      <dgm:spPr/>
    </dgm:pt>
    <dgm:pt modelId="{4BCCEBF1-CA8F-4F27-B6FA-6ED739061933}" type="pres">
      <dgm:prSet presAssocID="{46FD7632-90C4-49A1-A498-F9C4BE5FA8BA}" presName="iconBgRect" presStyleLbl="bgShp" presStyleIdx="0" presStyleCnt="3"/>
      <dgm:spPr>
        <a:prstGeom prst="round2DiagRect">
          <a:avLst>
            <a:gd name="adj1" fmla="val 29727"/>
            <a:gd name="adj2" fmla="val 0"/>
          </a:avLst>
        </a:prstGeom>
      </dgm:spPr>
    </dgm:pt>
    <dgm:pt modelId="{66324C56-30B0-42C0-946B-5AB01A654C56}" type="pres">
      <dgm:prSet presAssocID="{46FD7632-90C4-49A1-A498-F9C4BE5FA8B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4E90FFD3-9B35-4E33-BC3A-37FCB5B0408C}" type="pres">
      <dgm:prSet presAssocID="{46FD7632-90C4-49A1-A498-F9C4BE5FA8BA}" presName="spaceRect" presStyleCnt="0"/>
      <dgm:spPr/>
    </dgm:pt>
    <dgm:pt modelId="{C2E245A2-987B-4AF6-8F23-8305F13E4F3A}" type="pres">
      <dgm:prSet presAssocID="{46FD7632-90C4-49A1-A498-F9C4BE5FA8BA}" presName="textRect" presStyleLbl="revTx" presStyleIdx="0" presStyleCnt="3">
        <dgm:presLayoutVars>
          <dgm:chMax val="1"/>
          <dgm:chPref val="1"/>
        </dgm:presLayoutVars>
      </dgm:prSet>
      <dgm:spPr/>
    </dgm:pt>
    <dgm:pt modelId="{C53529AE-5020-4FBB-9EDF-087CDF3196E7}" type="pres">
      <dgm:prSet presAssocID="{1F6F1FEB-397B-464F-B4D6-E2C210D0B2EA}" presName="sibTrans" presStyleCnt="0"/>
      <dgm:spPr/>
    </dgm:pt>
    <dgm:pt modelId="{775C83E5-7D51-4728-B266-F6448E3C634D}" type="pres">
      <dgm:prSet presAssocID="{5788674B-DF4B-443F-AB5B-9CA72F17EA1A}" presName="compNode" presStyleCnt="0"/>
      <dgm:spPr/>
    </dgm:pt>
    <dgm:pt modelId="{4D3385BD-5346-4B8F-8C27-045CA60CF555}" type="pres">
      <dgm:prSet presAssocID="{5788674B-DF4B-443F-AB5B-9CA72F17EA1A}" presName="iconBgRect" presStyleLbl="bgShp" presStyleIdx="1" presStyleCnt="3"/>
      <dgm:spPr>
        <a:prstGeom prst="round2DiagRect">
          <a:avLst>
            <a:gd name="adj1" fmla="val 29727"/>
            <a:gd name="adj2" fmla="val 0"/>
          </a:avLst>
        </a:prstGeom>
      </dgm:spPr>
    </dgm:pt>
    <dgm:pt modelId="{2CBB8AA4-13B7-41CB-AECB-0AD9D59217F0}" type="pres">
      <dgm:prSet presAssocID="{5788674B-DF4B-443F-AB5B-9CA72F17EA1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C01AB5CB-0D44-494D-A663-70EBB60C651D}" type="pres">
      <dgm:prSet presAssocID="{5788674B-DF4B-443F-AB5B-9CA72F17EA1A}" presName="spaceRect" presStyleCnt="0"/>
      <dgm:spPr/>
    </dgm:pt>
    <dgm:pt modelId="{67E536D7-FFFC-4F9D-AD21-418AF6B9AC9C}" type="pres">
      <dgm:prSet presAssocID="{5788674B-DF4B-443F-AB5B-9CA72F17EA1A}" presName="textRect" presStyleLbl="revTx" presStyleIdx="1" presStyleCnt="3">
        <dgm:presLayoutVars>
          <dgm:chMax val="1"/>
          <dgm:chPref val="1"/>
        </dgm:presLayoutVars>
      </dgm:prSet>
      <dgm:spPr/>
    </dgm:pt>
    <dgm:pt modelId="{10108030-BF26-4A18-B067-0544FDEB812E}" type="pres">
      <dgm:prSet presAssocID="{36F72B93-EF0D-4B4F-9A29-2AD33FF70F2C}" presName="sibTrans" presStyleCnt="0"/>
      <dgm:spPr/>
    </dgm:pt>
    <dgm:pt modelId="{489D1A8B-C140-4489-A15A-2722E7B8C6B0}" type="pres">
      <dgm:prSet presAssocID="{45BB040B-2566-459F-891B-6EC39A3E1D40}" presName="compNode" presStyleCnt="0"/>
      <dgm:spPr/>
    </dgm:pt>
    <dgm:pt modelId="{A4457A2D-6E6B-40CF-9240-78469AFB7F5A}" type="pres">
      <dgm:prSet presAssocID="{45BB040B-2566-459F-891B-6EC39A3E1D40}" presName="iconBgRect" presStyleLbl="bgShp" presStyleIdx="2" presStyleCnt="3"/>
      <dgm:spPr>
        <a:prstGeom prst="round2DiagRect">
          <a:avLst>
            <a:gd name="adj1" fmla="val 29727"/>
            <a:gd name="adj2" fmla="val 0"/>
          </a:avLst>
        </a:prstGeom>
      </dgm:spPr>
    </dgm:pt>
    <dgm:pt modelId="{EEC8B79A-BBE9-4318-AF22-9A7BDB6D7365}" type="pres">
      <dgm:prSet presAssocID="{45BB040B-2566-459F-891B-6EC39A3E1D4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mage"/>
        </a:ext>
      </dgm:extLst>
    </dgm:pt>
    <dgm:pt modelId="{26D90D68-ACE3-4D66-9E6F-61CE94A31FFC}" type="pres">
      <dgm:prSet presAssocID="{45BB040B-2566-459F-891B-6EC39A3E1D40}" presName="spaceRect" presStyleCnt="0"/>
      <dgm:spPr/>
    </dgm:pt>
    <dgm:pt modelId="{DABA4609-5C28-4CA0-9530-92726C52315A}" type="pres">
      <dgm:prSet presAssocID="{45BB040B-2566-459F-891B-6EC39A3E1D40}" presName="textRect" presStyleLbl="revTx" presStyleIdx="2" presStyleCnt="3">
        <dgm:presLayoutVars>
          <dgm:chMax val="1"/>
          <dgm:chPref val="1"/>
        </dgm:presLayoutVars>
      </dgm:prSet>
      <dgm:spPr/>
    </dgm:pt>
  </dgm:ptLst>
  <dgm:cxnLst>
    <dgm:cxn modelId="{C70A0303-DE30-41D9-8A65-8FF35182A52C}" srcId="{6CC67812-9C02-4061-9909-B116B2E565A9}" destId="{46FD7632-90C4-49A1-A498-F9C4BE5FA8BA}" srcOrd="0" destOrd="0" parTransId="{F5EE8CB1-7498-4838-9B3F-5F93C44AF44A}" sibTransId="{1F6F1FEB-397B-464F-B4D6-E2C210D0B2EA}"/>
    <dgm:cxn modelId="{0110F709-1787-4F2E-B8E9-A1E0E84FD3D5}" srcId="{6CC67812-9C02-4061-9909-B116B2E565A9}" destId="{5788674B-DF4B-443F-AB5B-9CA72F17EA1A}" srcOrd="1" destOrd="0" parTransId="{232BC8AD-A9DC-4FE9-81C5-0A5DDA71AC15}" sibTransId="{36F72B93-EF0D-4B4F-9A29-2AD33FF70F2C}"/>
    <dgm:cxn modelId="{8221961D-24BF-443F-A361-260D4E308387}" type="presOf" srcId="{5788674B-DF4B-443F-AB5B-9CA72F17EA1A}" destId="{67E536D7-FFFC-4F9D-AD21-418AF6B9AC9C}" srcOrd="0" destOrd="0" presId="urn:microsoft.com/office/officeart/2018/5/layout/IconLeafLabelList"/>
    <dgm:cxn modelId="{08B28333-27BA-4483-B505-AEBE85B63FC6}" type="presOf" srcId="{6CC67812-9C02-4061-9909-B116B2E565A9}" destId="{9BC63BCE-FBC0-42C1-B285-4977439897D1}" srcOrd="0" destOrd="0" presId="urn:microsoft.com/office/officeart/2018/5/layout/IconLeafLabelList"/>
    <dgm:cxn modelId="{154E77A8-E676-40B3-9C45-B53BCB0F9641}" type="presOf" srcId="{46FD7632-90C4-49A1-A498-F9C4BE5FA8BA}" destId="{C2E245A2-987B-4AF6-8F23-8305F13E4F3A}" srcOrd="0" destOrd="0" presId="urn:microsoft.com/office/officeart/2018/5/layout/IconLeafLabelList"/>
    <dgm:cxn modelId="{264DB1EA-45F5-4D38-AB90-08EE264F7C58}" type="presOf" srcId="{45BB040B-2566-459F-891B-6EC39A3E1D40}" destId="{DABA4609-5C28-4CA0-9530-92726C52315A}" srcOrd="0" destOrd="0" presId="urn:microsoft.com/office/officeart/2018/5/layout/IconLeafLabelList"/>
    <dgm:cxn modelId="{CA634FF6-0C04-4CE8-883F-6A08CE2E7761}" srcId="{6CC67812-9C02-4061-9909-B116B2E565A9}" destId="{45BB040B-2566-459F-891B-6EC39A3E1D40}" srcOrd="2" destOrd="0" parTransId="{6058A2AB-3D6B-49F8-8F1E-088ECC95E2E3}" sibTransId="{F20C6CA4-BA3E-4E81-83B2-49F1C5D432B0}"/>
    <dgm:cxn modelId="{AD15F397-0830-4941-9A5A-E2A146DBE279}" type="presParOf" srcId="{9BC63BCE-FBC0-42C1-B285-4977439897D1}" destId="{2888EE19-7808-4D4A-AA6B-C046B6ADD537}" srcOrd="0" destOrd="0" presId="urn:microsoft.com/office/officeart/2018/5/layout/IconLeafLabelList"/>
    <dgm:cxn modelId="{0403DE2E-671D-463B-ACEA-D8E0F588C33D}" type="presParOf" srcId="{2888EE19-7808-4D4A-AA6B-C046B6ADD537}" destId="{4BCCEBF1-CA8F-4F27-B6FA-6ED739061933}" srcOrd="0" destOrd="0" presId="urn:microsoft.com/office/officeart/2018/5/layout/IconLeafLabelList"/>
    <dgm:cxn modelId="{91E8026D-D2FE-4C0B-921A-D7AF314C46DC}" type="presParOf" srcId="{2888EE19-7808-4D4A-AA6B-C046B6ADD537}" destId="{66324C56-30B0-42C0-946B-5AB01A654C56}" srcOrd="1" destOrd="0" presId="urn:microsoft.com/office/officeart/2018/5/layout/IconLeafLabelList"/>
    <dgm:cxn modelId="{7B8D08DC-5A7B-4B5C-A8ED-24A6C5009651}" type="presParOf" srcId="{2888EE19-7808-4D4A-AA6B-C046B6ADD537}" destId="{4E90FFD3-9B35-4E33-BC3A-37FCB5B0408C}" srcOrd="2" destOrd="0" presId="urn:microsoft.com/office/officeart/2018/5/layout/IconLeafLabelList"/>
    <dgm:cxn modelId="{5142A702-9AC7-4472-B44B-F929F4B0521E}" type="presParOf" srcId="{2888EE19-7808-4D4A-AA6B-C046B6ADD537}" destId="{C2E245A2-987B-4AF6-8F23-8305F13E4F3A}" srcOrd="3" destOrd="0" presId="urn:microsoft.com/office/officeart/2018/5/layout/IconLeafLabelList"/>
    <dgm:cxn modelId="{95BEB17D-C7A2-4D5E-B424-5E8C4CD34CA4}" type="presParOf" srcId="{9BC63BCE-FBC0-42C1-B285-4977439897D1}" destId="{C53529AE-5020-4FBB-9EDF-087CDF3196E7}" srcOrd="1" destOrd="0" presId="urn:microsoft.com/office/officeart/2018/5/layout/IconLeafLabelList"/>
    <dgm:cxn modelId="{6410393C-1D52-4699-A2B6-6C8C627562AC}" type="presParOf" srcId="{9BC63BCE-FBC0-42C1-B285-4977439897D1}" destId="{775C83E5-7D51-4728-B266-F6448E3C634D}" srcOrd="2" destOrd="0" presId="urn:microsoft.com/office/officeart/2018/5/layout/IconLeafLabelList"/>
    <dgm:cxn modelId="{7C243B84-76C4-48D7-AEE9-A0F788CDDBC4}" type="presParOf" srcId="{775C83E5-7D51-4728-B266-F6448E3C634D}" destId="{4D3385BD-5346-4B8F-8C27-045CA60CF555}" srcOrd="0" destOrd="0" presId="urn:microsoft.com/office/officeart/2018/5/layout/IconLeafLabelList"/>
    <dgm:cxn modelId="{F54DBCD0-4FEE-4518-80FE-67AAC27C364C}" type="presParOf" srcId="{775C83E5-7D51-4728-B266-F6448E3C634D}" destId="{2CBB8AA4-13B7-41CB-AECB-0AD9D59217F0}" srcOrd="1" destOrd="0" presId="urn:microsoft.com/office/officeart/2018/5/layout/IconLeafLabelList"/>
    <dgm:cxn modelId="{F1547B00-C709-414C-98A6-B37C48B24961}" type="presParOf" srcId="{775C83E5-7D51-4728-B266-F6448E3C634D}" destId="{C01AB5CB-0D44-494D-A663-70EBB60C651D}" srcOrd="2" destOrd="0" presId="urn:microsoft.com/office/officeart/2018/5/layout/IconLeafLabelList"/>
    <dgm:cxn modelId="{3B63DD10-B701-4527-AFB7-D9FAFD66C434}" type="presParOf" srcId="{775C83E5-7D51-4728-B266-F6448E3C634D}" destId="{67E536D7-FFFC-4F9D-AD21-418AF6B9AC9C}" srcOrd="3" destOrd="0" presId="urn:microsoft.com/office/officeart/2018/5/layout/IconLeafLabelList"/>
    <dgm:cxn modelId="{6541F20D-E068-4A2D-9F52-9CC7D6EC56C2}" type="presParOf" srcId="{9BC63BCE-FBC0-42C1-B285-4977439897D1}" destId="{10108030-BF26-4A18-B067-0544FDEB812E}" srcOrd="3" destOrd="0" presId="urn:microsoft.com/office/officeart/2018/5/layout/IconLeafLabelList"/>
    <dgm:cxn modelId="{D419B0BA-0840-4A2F-BA89-307BC690CA93}" type="presParOf" srcId="{9BC63BCE-FBC0-42C1-B285-4977439897D1}" destId="{489D1A8B-C140-4489-A15A-2722E7B8C6B0}" srcOrd="4" destOrd="0" presId="urn:microsoft.com/office/officeart/2018/5/layout/IconLeafLabelList"/>
    <dgm:cxn modelId="{5555A4B2-884C-4EFD-8B80-5F54C570A74D}" type="presParOf" srcId="{489D1A8B-C140-4489-A15A-2722E7B8C6B0}" destId="{A4457A2D-6E6B-40CF-9240-78469AFB7F5A}" srcOrd="0" destOrd="0" presId="urn:microsoft.com/office/officeart/2018/5/layout/IconLeafLabelList"/>
    <dgm:cxn modelId="{85F87F1C-C39A-4259-9929-C9C334D2DFFA}" type="presParOf" srcId="{489D1A8B-C140-4489-A15A-2722E7B8C6B0}" destId="{EEC8B79A-BBE9-4318-AF22-9A7BDB6D7365}" srcOrd="1" destOrd="0" presId="urn:microsoft.com/office/officeart/2018/5/layout/IconLeafLabelList"/>
    <dgm:cxn modelId="{1AD24A7E-080A-4A8F-981A-5CCB55F4D584}" type="presParOf" srcId="{489D1A8B-C140-4489-A15A-2722E7B8C6B0}" destId="{26D90D68-ACE3-4D66-9E6F-61CE94A31FFC}" srcOrd="2" destOrd="0" presId="urn:microsoft.com/office/officeart/2018/5/layout/IconLeafLabelList"/>
    <dgm:cxn modelId="{2236D6B9-6F56-44AB-B08F-A8C2DCD75A0F}" type="presParOf" srcId="{489D1A8B-C140-4489-A15A-2722E7B8C6B0}" destId="{DABA4609-5C28-4CA0-9530-92726C52315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84CB1F-8CB0-44FA-80FB-89E91ADEE497}" type="doc">
      <dgm:prSet loTypeId="urn:microsoft.com/office/officeart/2016/7/layout/VerticalSolidActionList" loCatId="List" qsTypeId="urn:microsoft.com/office/officeart/2005/8/quickstyle/simple1" qsCatId="simple" csTypeId="urn:microsoft.com/office/officeart/2005/8/colors/colorful5" csCatId="colorful"/>
      <dgm:spPr/>
      <dgm:t>
        <a:bodyPr/>
        <a:lstStyle/>
        <a:p>
          <a:endParaRPr lang="en-US"/>
        </a:p>
      </dgm:t>
    </dgm:pt>
    <dgm:pt modelId="{4B42797F-BBF4-4800-A63A-F11C5A4A85BF}">
      <dgm:prSet/>
      <dgm:spPr/>
      <dgm:t>
        <a:bodyPr/>
        <a:lstStyle/>
        <a:p>
          <a:r>
            <a:rPr lang="en-US"/>
            <a:t>Estimate</a:t>
          </a:r>
        </a:p>
      </dgm:t>
    </dgm:pt>
    <dgm:pt modelId="{EE4F43B2-CE57-49C4-8E44-3DF3AD289E85}" type="parTrans" cxnId="{83011DC9-CB0E-4764-9691-046243CE95B2}">
      <dgm:prSet/>
      <dgm:spPr/>
      <dgm:t>
        <a:bodyPr/>
        <a:lstStyle/>
        <a:p>
          <a:endParaRPr lang="en-US"/>
        </a:p>
      </dgm:t>
    </dgm:pt>
    <dgm:pt modelId="{58B1E7FA-1251-41E8-852B-552694C89AA7}" type="sibTrans" cxnId="{83011DC9-CB0E-4764-9691-046243CE95B2}">
      <dgm:prSet/>
      <dgm:spPr/>
      <dgm:t>
        <a:bodyPr/>
        <a:lstStyle/>
        <a:p>
          <a:endParaRPr lang="en-US"/>
        </a:p>
      </dgm:t>
    </dgm:pt>
    <dgm:pt modelId="{B04DFE0E-54AB-464E-A264-0801E6548E97}">
      <dgm:prSet/>
      <dgm:spPr/>
      <dgm:t>
        <a:bodyPr/>
        <a:lstStyle/>
        <a:p>
          <a:pPr>
            <a:lnSpc>
              <a:spcPct val="100000"/>
            </a:lnSpc>
          </a:pPr>
          <a:r>
            <a:rPr lang="en-US"/>
            <a:t>Estimate the relationship between inflation rates and the exchange rate, allowing for possible lag effects.</a:t>
          </a:r>
        </a:p>
      </dgm:t>
    </dgm:pt>
    <dgm:pt modelId="{9E1F9ABA-197F-44C3-A38E-86A53BDDDDD2}" type="parTrans" cxnId="{AE1845EA-D9FF-4526-B1DA-0A305BF1F58C}">
      <dgm:prSet/>
      <dgm:spPr/>
      <dgm:t>
        <a:bodyPr/>
        <a:lstStyle/>
        <a:p>
          <a:endParaRPr lang="en-US"/>
        </a:p>
      </dgm:t>
    </dgm:pt>
    <dgm:pt modelId="{989A1869-8849-4049-9FDC-CF31209622FF}" type="sibTrans" cxnId="{AE1845EA-D9FF-4526-B1DA-0A305BF1F58C}">
      <dgm:prSet/>
      <dgm:spPr/>
      <dgm:t>
        <a:bodyPr/>
        <a:lstStyle/>
        <a:p>
          <a:endParaRPr lang="en-US"/>
        </a:p>
      </dgm:t>
    </dgm:pt>
    <dgm:pt modelId="{D4CFF42B-3E9E-446B-8B9D-1EA217D1F914}">
      <dgm:prSet/>
      <dgm:spPr/>
      <dgm:t>
        <a:bodyPr/>
        <a:lstStyle/>
        <a:p>
          <a:r>
            <a:rPr lang="en-US"/>
            <a:t>Test</a:t>
          </a:r>
        </a:p>
      </dgm:t>
    </dgm:pt>
    <dgm:pt modelId="{42DF96AC-3CF8-4636-B149-FD3ABA5682D5}" type="parTrans" cxnId="{8DB03B6C-3978-4ED9-8DB7-F50E140C9C91}">
      <dgm:prSet/>
      <dgm:spPr/>
      <dgm:t>
        <a:bodyPr/>
        <a:lstStyle/>
        <a:p>
          <a:endParaRPr lang="en-US"/>
        </a:p>
      </dgm:t>
    </dgm:pt>
    <dgm:pt modelId="{28E0FE8A-7215-483B-AEED-4A4B1629E40E}" type="sibTrans" cxnId="{8DB03B6C-3978-4ED9-8DB7-F50E140C9C91}">
      <dgm:prSet/>
      <dgm:spPr/>
      <dgm:t>
        <a:bodyPr/>
        <a:lstStyle/>
        <a:p>
          <a:endParaRPr lang="en-US"/>
        </a:p>
      </dgm:t>
    </dgm:pt>
    <dgm:pt modelId="{159C4555-DB28-468C-AB94-AF9B09089704}">
      <dgm:prSet/>
      <dgm:spPr/>
      <dgm:t>
        <a:bodyPr/>
        <a:lstStyle/>
        <a:p>
          <a:pPr>
            <a:lnSpc>
              <a:spcPct val="100000"/>
            </a:lnSpc>
          </a:pPr>
          <a:r>
            <a:rPr lang="en-US"/>
            <a:t>Test whether PPP theory holds up in practice by comparing the actual exchange rate with that implied by inflation differentials.</a:t>
          </a:r>
        </a:p>
      </dgm:t>
    </dgm:pt>
    <dgm:pt modelId="{653D2FCB-5ED1-4CFF-91A1-40A812A3D07D}" type="parTrans" cxnId="{95BD5CCD-A004-4E67-BA32-22B5ECF12921}">
      <dgm:prSet/>
      <dgm:spPr/>
      <dgm:t>
        <a:bodyPr/>
        <a:lstStyle/>
        <a:p>
          <a:endParaRPr lang="en-US"/>
        </a:p>
      </dgm:t>
    </dgm:pt>
    <dgm:pt modelId="{9A37FA03-3FE5-4C95-9880-AC34ECB9A051}" type="sibTrans" cxnId="{95BD5CCD-A004-4E67-BA32-22B5ECF12921}">
      <dgm:prSet/>
      <dgm:spPr/>
      <dgm:t>
        <a:bodyPr/>
        <a:lstStyle/>
        <a:p>
          <a:endParaRPr lang="en-US"/>
        </a:p>
      </dgm:t>
    </dgm:pt>
    <dgm:pt modelId="{2AD27318-E132-488C-832D-691480E7432A}">
      <dgm:prSet/>
      <dgm:spPr/>
      <dgm:t>
        <a:bodyPr/>
        <a:lstStyle/>
        <a:p>
          <a:r>
            <a:rPr lang="en-US"/>
            <a:t>Describe</a:t>
          </a:r>
        </a:p>
      </dgm:t>
    </dgm:pt>
    <dgm:pt modelId="{CFE00ED6-EE9A-46B6-A9E4-973519416A96}" type="parTrans" cxnId="{2C20602B-885F-4C4A-9922-9FE5EE4C408C}">
      <dgm:prSet/>
      <dgm:spPr/>
      <dgm:t>
        <a:bodyPr/>
        <a:lstStyle/>
        <a:p>
          <a:endParaRPr lang="en-US"/>
        </a:p>
      </dgm:t>
    </dgm:pt>
    <dgm:pt modelId="{53622826-C9E4-40E7-B931-06614BE41D18}" type="sibTrans" cxnId="{2C20602B-885F-4C4A-9922-9FE5EE4C408C}">
      <dgm:prSet/>
      <dgm:spPr/>
      <dgm:t>
        <a:bodyPr/>
        <a:lstStyle/>
        <a:p>
          <a:endParaRPr lang="en-US"/>
        </a:p>
      </dgm:t>
    </dgm:pt>
    <dgm:pt modelId="{27B2F38C-08AD-434C-9EF0-60FE273480E0}">
      <dgm:prSet/>
      <dgm:spPr/>
      <dgm:t>
        <a:bodyPr/>
        <a:lstStyle/>
        <a:p>
          <a:pPr>
            <a:lnSpc>
              <a:spcPct val="100000"/>
            </a:lnSpc>
          </a:pPr>
          <a:r>
            <a:rPr lang="en-US"/>
            <a:t>Describe any deviations of actual from PPP-based exchange rates so as to get hints on other possible economic factors that may be useful in explaining movements of exchange rates.</a:t>
          </a:r>
        </a:p>
      </dgm:t>
    </dgm:pt>
    <dgm:pt modelId="{B6899315-37C0-4E4D-A554-5DA4EA84314E}" type="parTrans" cxnId="{3D88CFDF-5EBA-44C0-93D4-DE51C4C37304}">
      <dgm:prSet/>
      <dgm:spPr/>
      <dgm:t>
        <a:bodyPr/>
        <a:lstStyle/>
        <a:p>
          <a:endParaRPr lang="en-US"/>
        </a:p>
      </dgm:t>
    </dgm:pt>
    <dgm:pt modelId="{248F2654-D75C-49E2-8A2F-088DD8883B66}" type="sibTrans" cxnId="{3D88CFDF-5EBA-44C0-93D4-DE51C4C37304}">
      <dgm:prSet/>
      <dgm:spPr/>
      <dgm:t>
        <a:bodyPr/>
        <a:lstStyle/>
        <a:p>
          <a:endParaRPr lang="en-US"/>
        </a:p>
      </dgm:t>
    </dgm:pt>
    <dgm:pt modelId="{52C494A1-4C59-7147-AE02-759BF7FEF54E}" type="pres">
      <dgm:prSet presAssocID="{4D84CB1F-8CB0-44FA-80FB-89E91ADEE497}" presName="Name0" presStyleCnt="0">
        <dgm:presLayoutVars>
          <dgm:dir/>
          <dgm:animLvl val="lvl"/>
          <dgm:resizeHandles val="exact"/>
        </dgm:presLayoutVars>
      </dgm:prSet>
      <dgm:spPr/>
    </dgm:pt>
    <dgm:pt modelId="{0824AA8D-48E1-BA48-8F51-D87E2EC280C1}" type="pres">
      <dgm:prSet presAssocID="{4B42797F-BBF4-4800-A63A-F11C5A4A85BF}" presName="linNode" presStyleCnt="0"/>
      <dgm:spPr/>
    </dgm:pt>
    <dgm:pt modelId="{7D8BFAEE-6B58-5E4A-BC56-5EFD1E84F23F}" type="pres">
      <dgm:prSet presAssocID="{4B42797F-BBF4-4800-A63A-F11C5A4A85BF}" presName="parentText" presStyleLbl="alignNode1" presStyleIdx="0" presStyleCnt="3">
        <dgm:presLayoutVars>
          <dgm:chMax val="1"/>
          <dgm:bulletEnabled/>
        </dgm:presLayoutVars>
      </dgm:prSet>
      <dgm:spPr/>
    </dgm:pt>
    <dgm:pt modelId="{E170EC35-01B7-5C49-9F02-5D9C8393DE4F}" type="pres">
      <dgm:prSet presAssocID="{4B42797F-BBF4-4800-A63A-F11C5A4A85BF}" presName="descendantText" presStyleLbl="alignAccFollowNode1" presStyleIdx="0" presStyleCnt="3">
        <dgm:presLayoutVars>
          <dgm:bulletEnabled/>
        </dgm:presLayoutVars>
      </dgm:prSet>
      <dgm:spPr/>
    </dgm:pt>
    <dgm:pt modelId="{C5DAA807-59AF-1241-BD92-960BB59C9160}" type="pres">
      <dgm:prSet presAssocID="{58B1E7FA-1251-41E8-852B-552694C89AA7}" presName="sp" presStyleCnt="0"/>
      <dgm:spPr/>
    </dgm:pt>
    <dgm:pt modelId="{C20F3DDB-6204-E047-B364-A5FFF55912CE}" type="pres">
      <dgm:prSet presAssocID="{D4CFF42B-3E9E-446B-8B9D-1EA217D1F914}" presName="linNode" presStyleCnt="0"/>
      <dgm:spPr/>
    </dgm:pt>
    <dgm:pt modelId="{97E69CBC-1FFC-8F41-8177-46FB49E3BDD0}" type="pres">
      <dgm:prSet presAssocID="{D4CFF42B-3E9E-446B-8B9D-1EA217D1F914}" presName="parentText" presStyleLbl="alignNode1" presStyleIdx="1" presStyleCnt="3">
        <dgm:presLayoutVars>
          <dgm:chMax val="1"/>
          <dgm:bulletEnabled/>
        </dgm:presLayoutVars>
      </dgm:prSet>
      <dgm:spPr/>
    </dgm:pt>
    <dgm:pt modelId="{4B13F41A-96F9-7C4C-91C0-A556E677593A}" type="pres">
      <dgm:prSet presAssocID="{D4CFF42B-3E9E-446B-8B9D-1EA217D1F914}" presName="descendantText" presStyleLbl="alignAccFollowNode1" presStyleIdx="1" presStyleCnt="3">
        <dgm:presLayoutVars>
          <dgm:bulletEnabled/>
        </dgm:presLayoutVars>
      </dgm:prSet>
      <dgm:spPr/>
    </dgm:pt>
    <dgm:pt modelId="{0BF54B09-D880-A24C-A6AD-4CC41371F20B}" type="pres">
      <dgm:prSet presAssocID="{28E0FE8A-7215-483B-AEED-4A4B1629E40E}" presName="sp" presStyleCnt="0"/>
      <dgm:spPr/>
    </dgm:pt>
    <dgm:pt modelId="{05FB33B8-05CD-4D44-87B3-20D9DD9643F5}" type="pres">
      <dgm:prSet presAssocID="{2AD27318-E132-488C-832D-691480E7432A}" presName="linNode" presStyleCnt="0"/>
      <dgm:spPr/>
    </dgm:pt>
    <dgm:pt modelId="{1E738790-8AE8-5D45-9A8C-C414043B5BF7}" type="pres">
      <dgm:prSet presAssocID="{2AD27318-E132-488C-832D-691480E7432A}" presName="parentText" presStyleLbl="alignNode1" presStyleIdx="2" presStyleCnt="3">
        <dgm:presLayoutVars>
          <dgm:chMax val="1"/>
          <dgm:bulletEnabled/>
        </dgm:presLayoutVars>
      </dgm:prSet>
      <dgm:spPr/>
    </dgm:pt>
    <dgm:pt modelId="{7069E2C0-ED52-F14C-A26F-A59A3FF66C1F}" type="pres">
      <dgm:prSet presAssocID="{2AD27318-E132-488C-832D-691480E7432A}" presName="descendantText" presStyleLbl="alignAccFollowNode1" presStyleIdx="2" presStyleCnt="3">
        <dgm:presLayoutVars>
          <dgm:bulletEnabled/>
        </dgm:presLayoutVars>
      </dgm:prSet>
      <dgm:spPr/>
    </dgm:pt>
  </dgm:ptLst>
  <dgm:cxnLst>
    <dgm:cxn modelId="{2C20602B-885F-4C4A-9922-9FE5EE4C408C}" srcId="{4D84CB1F-8CB0-44FA-80FB-89E91ADEE497}" destId="{2AD27318-E132-488C-832D-691480E7432A}" srcOrd="2" destOrd="0" parTransId="{CFE00ED6-EE9A-46B6-A9E4-973519416A96}" sibTransId="{53622826-C9E4-40E7-B931-06614BE41D18}"/>
    <dgm:cxn modelId="{504EA545-35D6-1A4B-A961-25B124124F9B}" type="presOf" srcId="{2AD27318-E132-488C-832D-691480E7432A}" destId="{1E738790-8AE8-5D45-9A8C-C414043B5BF7}" srcOrd="0" destOrd="0" presId="urn:microsoft.com/office/officeart/2016/7/layout/VerticalSolidActionList"/>
    <dgm:cxn modelId="{8DB03B6C-3978-4ED9-8DB7-F50E140C9C91}" srcId="{4D84CB1F-8CB0-44FA-80FB-89E91ADEE497}" destId="{D4CFF42B-3E9E-446B-8B9D-1EA217D1F914}" srcOrd="1" destOrd="0" parTransId="{42DF96AC-3CF8-4636-B149-FD3ABA5682D5}" sibTransId="{28E0FE8A-7215-483B-AEED-4A4B1629E40E}"/>
    <dgm:cxn modelId="{FB4465A2-2BD7-7F46-9AA2-0D1C7905ED36}" type="presOf" srcId="{B04DFE0E-54AB-464E-A264-0801E6548E97}" destId="{E170EC35-01B7-5C49-9F02-5D9C8393DE4F}" srcOrd="0" destOrd="0" presId="urn:microsoft.com/office/officeart/2016/7/layout/VerticalSolidActionList"/>
    <dgm:cxn modelId="{1E7DEDB4-07D3-7B4A-A720-16CC14AFD443}" type="presOf" srcId="{4B42797F-BBF4-4800-A63A-F11C5A4A85BF}" destId="{7D8BFAEE-6B58-5E4A-BC56-5EFD1E84F23F}" srcOrd="0" destOrd="0" presId="urn:microsoft.com/office/officeart/2016/7/layout/VerticalSolidActionList"/>
    <dgm:cxn modelId="{756A53C0-5250-7045-BAD7-2F5E2FF0D949}" type="presOf" srcId="{D4CFF42B-3E9E-446B-8B9D-1EA217D1F914}" destId="{97E69CBC-1FFC-8F41-8177-46FB49E3BDD0}" srcOrd="0" destOrd="0" presId="urn:microsoft.com/office/officeart/2016/7/layout/VerticalSolidActionList"/>
    <dgm:cxn modelId="{83011DC9-CB0E-4764-9691-046243CE95B2}" srcId="{4D84CB1F-8CB0-44FA-80FB-89E91ADEE497}" destId="{4B42797F-BBF4-4800-A63A-F11C5A4A85BF}" srcOrd="0" destOrd="0" parTransId="{EE4F43B2-CE57-49C4-8E44-3DF3AD289E85}" sibTransId="{58B1E7FA-1251-41E8-852B-552694C89AA7}"/>
    <dgm:cxn modelId="{95BD5CCD-A004-4E67-BA32-22B5ECF12921}" srcId="{D4CFF42B-3E9E-446B-8B9D-1EA217D1F914}" destId="{159C4555-DB28-468C-AB94-AF9B09089704}" srcOrd="0" destOrd="0" parTransId="{653D2FCB-5ED1-4CFF-91A1-40A812A3D07D}" sibTransId="{9A37FA03-3FE5-4C95-9880-AC34ECB9A051}"/>
    <dgm:cxn modelId="{35E0D3CF-C707-F749-A284-5D6F1365243A}" type="presOf" srcId="{159C4555-DB28-468C-AB94-AF9B09089704}" destId="{4B13F41A-96F9-7C4C-91C0-A556E677593A}" srcOrd="0" destOrd="0" presId="urn:microsoft.com/office/officeart/2016/7/layout/VerticalSolidActionList"/>
    <dgm:cxn modelId="{3D88CFDF-5EBA-44C0-93D4-DE51C4C37304}" srcId="{2AD27318-E132-488C-832D-691480E7432A}" destId="{27B2F38C-08AD-434C-9EF0-60FE273480E0}" srcOrd="0" destOrd="0" parTransId="{B6899315-37C0-4E4D-A554-5DA4EA84314E}" sibTransId="{248F2654-D75C-49E2-8A2F-088DD8883B66}"/>
    <dgm:cxn modelId="{AE1845EA-D9FF-4526-B1DA-0A305BF1F58C}" srcId="{4B42797F-BBF4-4800-A63A-F11C5A4A85BF}" destId="{B04DFE0E-54AB-464E-A264-0801E6548E97}" srcOrd="0" destOrd="0" parTransId="{9E1F9ABA-197F-44C3-A38E-86A53BDDDDD2}" sibTransId="{989A1869-8849-4049-9FDC-CF31209622FF}"/>
    <dgm:cxn modelId="{2F3AA0EE-8AD1-B84E-AC55-88190B90F2C9}" type="presOf" srcId="{4D84CB1F-8CB0-44FA-80FB-89E91ADEE497}" destId="{52C494A1-4C59-7147-AE02-759BF7FEF54E}" srcOrd="0" destOrd="0" presId="urn:microsoft.com/office/officeart/2016/7/layout/VerticalSolidActionList"/>
    <dgm:cxn modelId="{95CC44EF-A74C-9C4C-BAF2-711448E50D55}" type="presOf" srcId="{27B2F38C-08AD-434C-9EF0-60FE273480E0}" destId="{7069E2C0-ED52-F14C-A26F-A59A3FF66C1F}" srcOrd="0" destOrd="0" presId="urn:microsoft.com/office/officeart/2016/7/layout/VerticalSolidActionList"/>
    <dgm:cxn modelId="{125450BE-684C-A74C-B9D9-841B405F8B0D}" type="presParOf" srcId="{52C494A1-4C59-7147-AE02-759BF7FEF54E}" destId="{0824AA8D-48E1-BA48-8F51-D87E2EC280C1}" srcOrd="0" destOrd="0" presId="urn:microsoft.com/office/officeart/2016/7/layout/VerticalSolidActionList"/>
    <dgm:cxn modelId="{91F02D02-6AB6-C04B-8F85-C14B356D02B8}" type="presParOf" srcId="{0824AA8D-48E1-BA48-8F51-D87E2EC280C1}" destId="{7D8BFAEE-6B58-5E4A-BC56-5EFD1E84F23F}" srcOrd="0" destOrd="0" presId="urn:microsoft.com/office/officeart/2016/7/layout/VerticalSolidActionList"/>
    <dgm:cxn modelId="{3A51993E-84F2-C140-87D6-3D1ABF036068}" type="presParOf" srcId="{0824AA8D-48E1-BA48-8F51-D87E2EC280C1}" destId="{E170EC35-01B7-5C49-9F02-5D9C8393DE4F}" srcOrd="1" destOrd="0" presId="urn:microsoft.com/office/officeart/2016/7/layout/VerticalSolidActionList"/>
    <dgm:cxn modelId="{FFBF597B-27A9-5D46-8F62-2CB834E7903E}" type="presParOf" srcId="{52C494A1-4C59-7147-AE02-759BF7FEF54E}" destId="{C5DAA807-59AF-1241-BD92-960BB59C9160}" srcOrd="1" destOrd="0" presId="urn:microsoft.com/office/officeart/2016/7/layout/VerticalSolidActionList"/>
    <dgm:cxn modelId="{F26CBE3D-8DCD-344F-BC3E-4483AA880B98}" type="presParOf" srcId="{52C494A1-4C59-7147-AE02-759BF7FEF54E}" destId="{C20F3DDB-6204-E047-B364-A5FFF55912CE}" srcOrd="2" destOrd="0" presId="urn:microsoft.com/office/officeart/2016/7/layout/VerticalSolidActionList"/>
    <dgm:cxn modelId="{93B8265B-E4D9-C045-9225-9F7DC0514CC8}" type="presParOf" srcId="{C20F3DDB-6204-E047-B364-A5FFF55912CE}" destId="{97E69CBC-1FFC-8F41-8177-46FB49E3BDD0}" srcOrd="0" destOrd="0" presId="urn:microsoft.com/office/officeart/2016/7/layout/VerticalSolidActionList"/>
    <dgm:cxn modelId="{70887223-991F-0746-B6C1-19D9413B412E}" type="presParOf" srcId="{C20F3DDB-6204-E047-B364-A5FFF55912CE}" destId="{4B13F41A-96F9-7C4C-91C0-A556E677593A}" srcOrd="1" destOrd="0" presId="urn:microsoft.com/office/officeart/2016/7/layout/VerticalSolidActionList"/>
    <dgm:cxn modelId="{BB162B04-59B7-5C48-B3FA-48CF4558F3C3}" type="presParOf" srcId="{52C494A1-4C59-7147-AE02-759BF7FEF54E}" destId="{0BF54B09-D880-A24C-A6AD-4CC41371F20B}" srcOrd="3" destOrd="0" presId="urn:microsoft.com/office/officeart/2016/7/layout/VerticalSolidActionList"/>
    <dgm:cxn modelId="{1E4B3250-6FCE-C244-8EFF-8B49FCBDC31E}" type="presParOf" srcId="{52C494A1-4C59-7147-AE02-759BF7FEF54E}" destId="{05FB33B8-05CD-4D44-87B3-20D9DD9643F5}" srcOrd="4" destOrd="0" presId="urn:microsoft.com/office/officeart/2016/7/layout/VerticalSolidActionList"/>
    <dgm:cxn modelId="{49095501-F615-9F45-80CA-79EFAA98DC4B}" type="presParOf" srcId="{05FB33B8-05CD-4D44-87B3-20D9DD9643F5}" destId="{1E738790-8AE8-5D45-9A8C-C414043B5BF7}" srcOrd="0" destOrd="0" presId="urn:microsoft.com/office/officeart/2016/7/layout/VerticalSolidActionList"/>
    <dgm:cxn modelId="{006459AE-81E5-FA4E-98AA-75FB0B59FF59}" type="presParOf" srcId="{05FB33B8-05CD-4D44-87B3-20D9DD9643F5}" destId="{7069E2C0-ED52-F14C-A26F-A59A3FF66C1F}"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CCEBF1-CA8F-4F27-B6FA-6ED739061933}">
      <dsp:nvSpPr>
        <dsp:cNvPr id="0" name=""/>
        <dsp:cNvSpPr/>
      </dsp:nvSpPr>
      <dsp:spPr>
        <a:xfrm>
          <a:off x="679050" y="578169"/>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324C56-30B0-42C0-946B-5AB01A654C56}">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E245A2-987B-4AF6-8F23-8305F13E4F3A}">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Performed analysis using python on Jupyter Software</a:t>
          </a:r>
        </a:p>
      </dsp:txBody>
      <dsp:txXfrm>
        <a:off x="75768" y="3053169"/>
        <a:ext cx="3093750" cy="720000"/>
      </dsp:txXfrm>
    </dsp:sp>
    <dsp:sp modelId="{4D3385BD-5346-4B8F-8C27-045CA60CF555}">
      <dsp:nvSpPr>
        <dsp:cNvPr id="0" name=""/>
        <dsp:cNvSpPr/>
      </dsp:nvSpPr>
      <dsp:spPr>
        <a:xfrm>
          <a:off x="4314206" y="578169"/>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BB8AA4-13B7-41CB-AECB-0AD9D59217F0}">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E536D7-FFFC-4F9D-AD21-418AF6B9AC9C}">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dirty="0"/>
            <a:t>Descriptively analysed each dataset for insightful information</a:t>
          </a:r>
          <a:endParaRPr lang="en-US" sz="1700" kern="1200" dirty="0"/>
        </a:p>
      </dsp:txBody>
      <dsp:txXfrm>
        <a:off x="3710925" y="3053169"/>
        <a:ext cx="3093750" cy="720000"/>
      </dsp:txXfrm>
    </dsp:sp>
    <dsp:sp modelId="{A4457A2D-6E6B-40CF-9240-78469AFB7F5A}">
      <dsp:nvSpPr>
        <dsp:cNvPr id="0" name=""/>
        <dsp:cNvSpPr/>
      </dsp:nvSpPr>
      <dsp:spPr>
        <a:xfrm>
          <a:off x="7949362" y="578169"/>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C8B79A-BBE9-4318-AF22-9A7BDB6D7365}">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BA4609-5C28-4CA0-9530-92726C52315A}">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Visualized the data into graphical depictions for the illustrations.</a:t>
          </a:r>
        </a:p>
      </dsp:txBody>
      <dsp:txXfrm>
        <a:off x="7346081" y="3053169"/>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0EC35-01B7-5C49-9F02-5D9C8393DE4F}">
      <dsp:nvSpPr>
        <dsp:cNvPr id="0" name=""/>
        <dsp:cNvSpPr/>
      </dsp:nvSpPr>
      <dsp:spPr>
        <a:xfrm>
          <a:off x="1881505" y="1325"/>
          <a:ext cx="7526020" cy="1358701"/>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6026" tIns="345110" rIns="146026" bIns="345110" numCol="1" spcCol="1270" anchor="ctr" anchorCtr="0">
          <a:noAutofit/>
        </a:bodyPr>
        <a:lstStyle/>
        <a:p>
          <a:pPr marL="0" lvl="0" indent="0" algn="l" defTabSz="666750">
            <a:lnSpc>
              <a:spcPct val="100000"/>
            </a:lnSpc>
            <a:spcBef>
              <a:spcPct val="0"/>
            </a:spcBef>
            <a:spcAft>
              <a:spcPct val="35000"/>
            </a:spcAft>
            <a:buNone/>
          </a:pPr>
          <a:r>
            <a:rPr lang="en-US" sz="1500" kern="1200"/>
            <a:t>Estimate the relationship between inflation rates and the exchange rate, allowing for possible lag effects.</a:t>
          </a:r>
        </a:p>
      </dsp:txBody>
      <dsp:txXfrm>
        <a:off x="1881505" y="1325"/>
        <a:ext cx="7526020" cy="1358701"/>
      </dsp:txXfrm>
    </dsp:sp>
    <dsp:sp modelId="{7D8BFAEE-6B58-5E4A-BC56-5EFD1E84F23F}">
      <dsp:nvSpPr>
        <dsp:cNvPr id="0" name=""/>
        <dsp:cNvSpPr/>
      </dsp:nvSpPr>
      <dsp:spPr>
        <a:xfrm>
          <a:off x="0" y="1325"/>
          <a:ext cx="1881505" cy="1358701"/>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3" tIns="134210" rIns="99563" bIns="134210" numCol="1" spcCol="1270" anchor="ctr" anchorCtr="0">
          <a:noAutofit/>
        </a:bodyPr>
        <a:lstStyle/>
        <a:p>
          <a:pPr marL="0" lvl="0" indent="0" algn="ctr" defTabSz="844550">
            <a:lnSpc>
              <a:spcPct val="90000"/>
            </a:lnSpc>
            <a:spcBef>
              <a:spcPct val="0"/>
            </a:spcBef>
            <a:spcAft>
              <a:spcPct val="35000"/>
            </a:spcAft>
            <a:buNone/>
          </a:pPr>
          <a:r>
            <a:rPr lang="en-US" sz="1900" kern="1200"/>
            <a:t>Estimate</a:t>
          </a:r>
        </a:p>
      </dsp:txBody>
      <dsp:txXfrm>
        <a:off x="0" y="1325"/>
        <a:ext cx="1881505" cy="1358701"/>
      </dsp:txXfrm>
    </dsp:sp>
    <dsp:sp modelId="{4B13F41A-96F9-7C4C-91C0-A556E677593A}">
      <dsp:nvSpPr>
        <dsp:cNvPr id="0" name=""/>
        <dsp:cNvSpPr/>
      </dsp:nvSpPr>
      <dsp:spPr>
        <a:xfrm>
          <a:off x="1881505" y="1441549"/>
          <a:ext cx="7526020" cy="1358701"/>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6026" tIns="345110" rIns="146026" bIns="345110" numCol="1" spcCol="1270" anchor="ctr" anchorCtr="0">
          <a:noAutofit/>
        </a:bodyPr>
        <a:lstStyle/>
        <a:p>
          <a:pPr marL="0" lvl="0" indent="0" algn="l" defTabSz="666750">
            <a:lnSpc>
              <a:spcPct val="100000"/>
            </a:lnSpc>
            <a:spcBef>
              <a:spcPct val="0"/>
            </a:spcBef>
            <a:spcAft>
              <a:spcPct val="35000"/>
            </a:spcAft>
            <a:buNone/>
          </a:pPr>
          <a:r>
            <a:rPr lang="en-US" sz="1500" kern="1200"/>
            <a:t>Test whether PPP theory holds up in practice by comparing the actual exchange rate with that implied by inflation differentials.</a:t>
          </a:r>
        </a:p>
      </dsp:txBody>
      <dsp:txXfrm>
        <a:off x="1881505" y="1441549"/>
        <a:ext cx="7526020" cy="1358701"/>
      </dsp:txXfrm>
    </dsp:sp>
    <dsp:sp modelId="{97E69CBC-1FFC-8F41-8177-46FB49E3BDD0}">
      <dsp:nvSpPr>
        <dsp:cNvPr id="0" name=""/>
        <dsp:cNvSpPr/>
      </dsp:nvSpPr>
      <dsp:spPr>
        <a:xfrm>
          <a:off x="0" y="1441549"/>
          <a:ext cx="1881505" cy="1358701"/>
        </a:xfrm>
        <a:prstGeom prst="rect">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3" tIns="134210" rIns="99563" bIns="134210" numCol="1" spcCol="1270" anchor="ctr" anchorCtr="0">
          <a:noAutofit/>
        </a:bodyPr>
        <a:lstStyle/>
        <a:p>
          <a:pPr marL="0" lvl="0" indent="0" algn="ctr" defTabSz="844550">
            <a:lnSpc>
              <a:spcPct val="90000"/>
            </a:lnSpc>
            <a:spcBef>
              <a:spcPct val="0"/>
            </a:spcBef>
            <a:spcAft>
              <a:spcPct val="35000"/>
            </a:spcAft>
            <a:buNone/>
          </a:pPr>
          <a:r>
            <a:rPr lang="en-US" sz="1900" kern="1200"/>
            <a:t>Test</a:t>
          </a:r>
        </a:p>
      </dsp:txBody>
      <dsp:txXfrm>
        <a:off x="0" y="1441549"/>
        <a:ext cx="1881505" cy="1358701"/>
      </dsp:txXfrm>
    </dsp:sp>
    <dsp:sp modelId="{7069E2C0-ED52-F14C-A26F-A59A3FF66C1F}">
      <dsp:nvSpPr>
        <dsp:cNvPr id="0" name=""/>
        <dsp:cNvSpPr/>
      </dsp:nvSpPr>
      <dsp:spPr>
        <a:xfrm>
          <a:off x="1881505" y="2881772"/>
          <a:ext cx="7526020" cy="1358701"/>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6026" tIns="345110" rIns="146026" bIns="345110" numCol="1" spcCol="1270" anchor="ctr" anchorCtr="0">
          <a:noAutofit/>
        </a:bodyPr>
        <a:lstStyle/>
        <a:p>
          <a:pPr marL="0" lvl="0" indent="0" algn="l" defTabSz="666750">
            <a:lnSpc>
              <a:spcPct val="100000"/>
            </a:lnSpc>
            <a:spcBef>
              <a:spcPct val="0"/>
            </a:spcBef>
            <a:spcAft>
              <a:spcPct val="35000"/>
            </a:spcAft>
            <a:buNone/>
          </a:pPr>
          <a:r>
            <a:rPr lang="en-US" sz="1500" kern="1200"/>
            <a:t>Describe any deviations of actual from PPP-based exchange rates so as to get hints on other possible economic factors that may be useful in explaining movements of exchange rates.</a:t>
          </a:r>
        </a:p>
      </dsp:txBody>
      <dsp:txXfrm>
        <a:off x="1881505" y="2881772"/>
        <a:ext cx="7526020" cy="1358701"/>
      </dsp:txXfrm>
    </dsp:sp>
    <dsp:sp modelId="{1E738790-8AE8-5D45-9A8C-C414043B5BF7}">
      <dsp:nvSpPr>
        <dsp:cNvPr id="0" name=""/>
        <dsp:cNvSpPr/>
      </dsp:nvSpPr>
      <dsp:spPr>
        <a:xfrm>
          <a:off x="0" y="2881772"/>
          <a:ext cx="1881505" cy="1358701"/>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3" tIns="134210" rIns="99563" bIns="134210" numCol="1" spcCol="1270" anchor="ctr" anchorCtr="0">
          <a:noAutofit/>
        </a:bodyPr>
        <a:lstStyle/>
        <a:p>
          <a:pPr marL="0" lvl="0" indent="0" algn="ctr" defTabSz="844550">
            <a:lnSpc>
              <a:spcPct val="90000"/>
            </a:lnSpc>
            <a:spcBef>
              <a:spcPct val="0"/>
            </a:spcBef>
            <a:spcAft>
              <a:spcPct val="35000"/>
            </a:spcAft>
            <a:buNone/>
          </a:pPr>
          <a:r>
            <a:rPr lang="en-US" sz="1900" kern="1200"/>
            <a:t>Describe</a:t>
          </a:r>
        </a:p>
      </dsp:txBody>
      <dsp:txXfrm>
        <a:off x="0" y="2881772"/>
        <a:ext cx="1881505" cy="1358701"/>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3082B-29CE-794C-81E4-A386E919EEC7}" type="datetimeFigureOut">
              <a:rPr lang="en-US" smtClean="0"/>
              <a:t>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69EB82-007D-9046-AE6E-06C01AE8F44B}" type="slidenum">
              <a:rPr lang="en-US" smtClean="0"/>
              <a:t>‹#›</a:t>
            </a:fld>
            <a:endParaRPr lang="en-US"/>
          </a:p>
        </p:txBody>
      </p:sp>
    </p:spTree>
    <p:extLst>
      <p:ext uri="{BB962C8B-B14F-4D97-AF65-F5344CB8AC3E}">
        <p14:creationId xmlns:p14="http://schemas.microsoft.com/office/powerpoint/2010/main" val="121935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69EB82-007D-9046-AE6E-06C01AE8F44B}" type="slidenum">
              <a:rPr lang="en-US" smtClean="0"/>
              <a:t>4</a:t>
            </a:fld>
            <a:endParaRPr lang="en-US"/>
          </a:p>
        </p:txBody>
      </p:sp>
    </p:spTree>
    <p:extLst>
      <p:ext uri="{BB962C8B-B14F-4D97-AF65-F5344CB8AC3E}">
        <p14:creationId xmlns:p14="http://schemas.microsoft.com/office/powerpoint/2010/main" val="533965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69EB82-007D-9046-AE6E-06C01AE8F44B}" type="slidenum">
              <a:rPr lang="en-US" smtClean="0"/>
              <a:t>5</a:t>
            </a:fld>
            <a:endParaRPr lang="en-US"/>
          </a:p>
        </p:txBody>
      </p:sp>
    </p:spTree>
    <p:extLst>
      <p:ext uri="{BB962C8B-B14F-4D97-AF65-F5344CB8AC3E}">
        <p14:creationId xmlns:p14="http://schemas.microsoft.com/office/powerpoint/2010/main" val="1165233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69EB82-007D-9046-AE6E-06C01AE8F44B}" type="slidenum">
              <a:rPr lang="en-US" smtClean="0"/>
              <a:t>13</a:t>
            </a:fld>
            <a:endParaRPr lang="en-US"/>
          </a:p>
        </p:txBody>
      </p:sp>
    </p:spTree>
    <p:extLst>
      <p:ext uri="{BB962C8B-B14F-4D97-AF65-F5344CB8AC3E}">
        <p14:creationId xmlns:p14="http://schemas.microsoft.com/office/powerpoint/2010/main" val="2989521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460014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211512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37810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341B595-366B-43E2-A22E-EA6A78C03F06}" type="datetimeFigureOut">
              <a:rPr lang="en-US" smtClean="0"/>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37479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341B595-366B-43E2-A22E-EA6A78C03F06}" type="datetimeFigureOut">
              <a:rPr lang="en-US" smtClean="0"/>
              <a:t>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776744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341B595-366B-43E2-A22E-EA6A78C03F06}" type="datetimeFigureOut">
              <a:rPr lang="en-US" smtClean="0"/>
              <a:t>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047778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41B595-366B-43E2-A22E-EA6A78C03F06}" type="datetimeFigureOut">
              <a:rPr lang="en-US" smtClean="0"/>
              <a:t>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626860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87396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720748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782558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626994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41B595-366B-43E2-A22E-EA6A78C03F06}" type="datetimeFigureOut">
              <a:rPr lang="en-US" smtClean="0"/>
              <a:t>1/12/25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40522155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Coloured pencils inside a pencil holder which is on top of a wood table">
            <a:extLst>
              <a:ext uri="{FF2B5EF4-FFF2-40B4-BE49-F238E27FC236}">
                <a16:creationId xmlns:a16="http://schemas.microsoft.com/office/drawing/2014/main" id="{6857CAEA-DBCB-5A42-BDBD-FA68A546BF73}"/>
              </a:ext>
            </a:extLst>
          </p:cNvPr>
          <p:cNvPicPr>
            <a:picLocks noChangeAspect="1"/>
          </p:cNvPicPr>
          <p:nvPr/>
        </p:nvPicPr>
        <p:blipFill>
          <a:blip r:embed="rId2"/>
          <a:srcRect l="22277" t="9091" r="1022"/>
          <a:stretch/>
        </p:blipFill>
        <p:spPr>
          <a:xfrm>
            <a:off x="3523488" y="10"/>
            <a:ext cx="8668512" cy="6857990"/>
          </a:xfrm>
          <a:prstGeom prst="rect">
            <a:avLst/>
          </a:prstGeom>
          <a:noFill/>
        </p:spPr>
      </p:pic>
      <p:sp>
        <p:nvSpPr>
          <p:cNvPr id="40" name="Rectangle 3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21A32B-CB00-CFF4-7B68-C84A90439A89}"/>
              </a:ext>
            </a:extLst>
          </p:cNvPr>
          <p:cNvSpPr>
            <a:spLocks noGrp="1"/>
          </p:cNvSpPr>
          <p:nvPr>
            <p:ph type="ctrTitle"/>
          </p:nvPr>
        </p:nvSpPr>
        <p:spPr>
          <a:xfrm>
            <a:off x="477981" y="1122363"/>
            <a:ext cx="4023360" cy="3204134"/>
          </a:xfrm>
        </p:spPr>
        <p:txBody>
          <a:bodyPr anchor="b">
            <a:normAutofit/>
          </a:bodyPr>
          <a:lstStyle/>
          <a:p>
            <a:pPr algn="l"/>
            <a:r>
              <a:rPr lang="en-US" sz="4800" b="1" dirty="0">
                <a:solidFill>
                  <a:schemeClr val="bg1"/>
                </a:solidFill>
              </a:rPr>
              <a:t>Impact of Inflation</a:t>
            </a:r>
          </a:p>
        </p:txBody>
      </p:sp>
      <p:sp>
        <p:nvSpPr>
          <p:cNvPr id="3" name="Subtitle 2">
            <a:extLst>
              <a:ext uri="{FF2B5EF4-FFF2-40B4-BE49-F238E27FC236}">
                <a16:creationId xmlns:a16="http://schemas.microsoft.com/office/drawing/2014/main" id="{6F9B9C53-C0AD-08A2-7CE8-686F1241F25B}"/>
              </a:ext>
            </a:extLst>
          </p:cNvPr>
          <p:cNvSpPr>
            <a:spLocks noGrp="1"/>
          </p:cNvSpPr>
          <p:nvPr>
            <p:ph type="subTitle" idx="1"/>
          </p:nvPr>
        </p:nvSpPr>
        <p:spPr>
          <a:xfrm>
            <a:off x="477980" y="4872922"/>
            <a:ext cx="4023359" cy="1208141"/>
          </a:xfrm>
        </p:spPr>
        <p:txBody>
          <a:bodyPr>
            <a:normAutofit/>
          </a:bodyPr>
          <a:lstStyle/>
          <a:p>
            <a:pPr algn="l"/>
            <a:endParaRPr lang="en-US" sz="2000">
              <a:solidFill>
                <a:schemeClr val="bg1"/>
              </a:solidFill>
            </a:endParaRPr>
          </a:p>
        </p:txBody>
      </p:sp>
      <p:sp>
        <p:nvSpPr>
          <p:cNvPr id="42" name="Rectangle 4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4" name="Rectangle 4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61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3AD41DB-DF9F-49BC-85AE-6AB1840A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939AE5-4710-13DA-A256-97C1C3539B32}"/>
              </a:ext>
            </a:extLst>
          </p:cNvPr>
          <p:cNvSpPr>
            <a:spLocks noGrp="1"/>
          </p:cNvSpPr>
          <p:nvPr>
            <p:ph type="title"/>
          </p:nvPr>
        </p:nvSpPr>
        <p:spPr>
          <a:xfrm>
            <a:off x="838200" y="4669978"/>
            <a:ext cx="4391024" cy="1173700"/>
          </a:xfrm>
        </p:spPr>
        <p:txBody>
          <a:bodyPr vert="horz" lIns="91440" tIns="45720" rIns="91440" bIns="45720" rtlCol="0" anchor="t">
            <a:normAutofit/>
          </a:bodyPr>
          <a:lstStyle/>
          <a:p>
            <a:r>
              <a:rPr lang="en-US" sz="4000">
                <a:solidFill>
                  <a:schemeClr val="bg1"/>
                </a:solidFill>
              </a:rPr>
              <a:t>GROUP MEMBERS</a:t>
            </a:r>
          </a:p>
        </p:txBody>
      </p:sp>
      <p:pic>
        <p:nvPicPr>
          <p:cNvPr id="5" name="Content Placeholder 4" descr="A yellow box with a smiley face and a white circle with black text&#10;&#10;Description automatically generated with medium confidence">
            <a:extLst>
              <a:ext uri="{FF2B5EF4-FFF2-40B4-BE49-F238E27FC236}">
                <a16:creationId xmlns:a16="http://schemas.microsoft.com/office/drawing/2014/main" id="{1C9A8F13-9CFE-E893-5F62-3B2A602AD706}"/>
              </a:ext>
            </a:extLst>
          </p:cNvPr>
          <p:cNvPicPr>
            <a:picLocks noGrp="1" noChangeAspect="1"/>
          </p:cNvPicPr>
          <p:nvPr>
            <p:ph idx="1"/>
          </p:nvPr>
        </p:nvPicPr>
        <p:blipFill>
          <a:blip r:embed="rId2"/>
          <a:srcRect b="5262"/>
          <a:stretch/>
        </p:blipFill>
        <p:spPr>
          <a:xfrm>
            <a:off x="20" y="-1"/>
            <a:ext cx="12191980" cy="3984912"/>
          </a:xfrm>
          <a:custGeom>
            <a:avLst/>
            <a:gdLst/>
            <a:ahLst/>
            <a:cxnLst/>
            <a:rect l="l" t="t" r="r" b="b"/>
            <a:pathLst>
              <a:path w="12192000" h="3984912">
                <a:moveTo>
                  <a:pt x="0" y="0"/>
                </a:moveTo>
                <a:lnTo>
                  <a:pt x="12192000" y="0"/>
                </a:lnTo>
                <a:lnTo>
                  <a:pt x="12192000" y="566059"/>
                </a:lnTo>
                <a:lnTo>
                  <a:pt x="12192000" y="794037"/>
                </a:lnTo>
                <a:lnTo>
                  <a:pt x="12192000" y="2336800"/>
                </a:lnTo>
                <a:lnTo>
                  <a:pt x="12192000" y="2631227"/>
                </a:lnTo>
                <a:lnTo>
                  <a:pt x="12192000" y="3908712"/>
                </a:lnTo>
                <a:lnTo>
                  <a:pt x="9439275" y="3984912"/>
                </a:lnTo>
                <a:lnTo>
                  <a:pt x="5572127" y="3737262"/>
                </a:lnTo>
                <a:lnTo>
                  <a:pt x="0" y="3908712"/>
                </a:lnTo>
                <a:lnTo>
                  <a:pt x="0" y="2631227"/>
                </a:lnTo>
                <a:lnTo>
                  <a:pt x="0" y="2336800"/>
                </a:lnTo>
                <a:lnTo>
                  <a:pt x="0" y="794037"/>
                </a:lnTo>
                <a:lnTo>
                  <a:pt x="0" y="566059"/>
                </a:lnTo>
                <a:close/>
              </a:path>
            </a:pathLst>
          </a:custGeom>
        </p:spPr>
      </p:pic>
      <p:grpSp>
        <p:nvGrpSpPr>
          <p:cNvPr id="20" name="Group 19">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1" name="Freeform: Shape 20">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extBox 5">
            <a:extLst>
              <a:ext uri="{FF2B5EF4-FFF2-40B4-BE49-F238E27FC236}">
                <a16:creationId xmlns:a16="http://schemas.microsoft.com/office/drawing/2014/main" id="{ED1EC2B4-EC6E-606F-8DF6-52FB7703AF9C}"/>
              </a:ext>
            </a:extLst>
          </p:cNvPr>
          <p:cNvSpPr txBox="1"/>
          <p:nvPr/>
        </p:nvSpPr>
        <p:spPr>
          <a:xfrm>
            <a:off x="5664201" y="4669978"/>
            <a:ext cx="5692774" cy="1173700"/>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endParaRPr lang="en-US" sz="2400" b="1" dirty="0">
              <a:solidFill>
                <a:schemeClr val="bg1">
                  <a:alpha val="80000"/>
                </a:schemeClr>
              </a:solidFill>
            </a:endParaRPr>
          </a:p>
        </p:txBody>
      </p:sp>
    </p:spTree>
    <p:extLst>
      <p:ext uri="{BB962C8B-B14F-4D97-AF65-F5344CB8AC3E}">
        <p14:creationId xmlns:p14="http://schemas.microsoft.com/office/powerpoint/2010/main" val="3377288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DB77208A-4F7E-5BB8-A8FE-194890483863}"/>
              </a:ext>
            </a:extLst>
          </p:cNvPr>
          <p:cNvSpPr>
            <a:spLocks noGrp="1"/>
          </p:cNvSpPr>
          <p:nvPr>
            <p:ph type="title"/>
          </p:nvPr>
        </p:nvSpPr>
        <p:spPr>
          <a:xfrm>
            <a:off x="838200" y="669925"/>
            <a:ext cx="4508946" cy="1325563"/>
          </a:xfrm>
        </p:spPr>
        <p:txBody>
          <a:bodyPr anchor="b">
            <a:normAutofit/>
          </a:bodyPr>
          <a:lstStyle/>
          <a:p>
            <a:pPr algn="r"/>
            <a:r>
              <a:rPr lang="en-US" b="1" dirty="0">
                <a:solidFill>
                  <a:schemeClr val="bg1"/>
                </a:solidFill>
              </a:rPr>
              <a:t>INTRODUCTION</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425B4E0-D074-50F1-68E8-99CB4425568D}"/>
              </a:ext>
            </a:extLst>
          </p:cNvPr>
          <p:cNvSpPr>
            <a:spLocks noGrp="1"/>
          </p:cNvSpPr>
          <p:nvPr>
            <p:ph idx="1"/>
          </p:nvPr>
        </p:nvSpPr>
        <p:spPr>
          <a:xfrm>
            <a:off x="1392667" y="2398957"/>
            <a:ext cx="9406666" cy="3526144"/>
          </a:xfrm>
        </p:spPr>
        <p:txBody>
          <a:bodyPr>
            <a:normAutofit/>
          </a:bodyPr>
          <a:lstStyle/>
          <a:p>
            <a:pPr marL="0" indent="0">
              <a:buNone/>
            </a:pPr>
            <a:r>
              <a:rPr lang="en-US" sz="2000" dirty="0">
                <a:solidFill>
                  <a:schemeClr val="bg1"/>
                </a:solidFill>
              </a:rPr>
              <a:t>Inflation and exchange rates are among the major study areas in economics. A change in the exchange rate reflects the difference in the value of currencies, while the rate of inflation shows how fast prices are increasing. </a:t>
            </a:r>
          </a:p>
          <a:p>
            <a:pPr marL="0" indent="0">
              <a:buNone/>
            </a:pPr>
            <a:r>
              <a:rPr lang="en-US" sz="2000" dirty="0">
                <a:solidFill>
                  <a:schemeClr val="bg1"/>
                </a:solidFill>
              </a:rPr>
              <a:t>This research will put inflation, along with the exchange rates between the USA and India, under comparison and analysis for the years 1980 to 2024. </a:t>
            </a:r>
          </a:p>
          <a:p>
            <a:pPr marL="0" indent="0">
              <a:buNone/>
            </a:pPr>
            <a:r>
              <a:rPr lang="en-US" sz="2000" dirty="0">
                <a:solidFill>
                  <a:schemeClr val="bg1"/>
                </a:solidFill>
              </a:rPr>
              <a:t>Those are some of the important indicators followed by policymakers, investors, and economists in predicting economic trends, managing monetary policies, and assessing international competitiveness.</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4888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B3185-B596-8F1E-1A99-05618BCB1009}"/>
              </a:ext>
            </a:extLst>
          </p:cNvPr>
          <p:cNvSpPr>
            <a:spLocks noGrp="1"/>
          </p:cNvSpPr>
          <p:nvPr>
            <p:ph type="title"/>
          </p:nvPr>
        </p:nvSpPr>
        <p:spPr>
          <a:xfrm>
            <a:off x="914398" y="647701"/>
            <a:ext cx="9534525" cy="941760"/>
          </a:xfrm>
        </p:spPr>
        <p:txBody>
          <a:bodyPr vert="horz" lIns="91440" tIns="45720" rIns="91440" bIns="45720" rtlCol="0" anchor="ctr">
            <a:normAutofit/>
          </a:bodyPr>
          <a:lstStyle/>
          <a:p>
            <a:endParaRPr lang="en-US" sz="3200" b="1" dirty="0"/>
          </a:p>
        </p:txBody>
      </p:sp>
      <p:pic>
        <p:nvPicPr>
          <p:cNvPr id="6" name="Content Placeholder 5" descr="A diagram of a process&#10;&#10;Description automatically generated">
            <a:extLst>
              <a:ext uri="{FF2B5EF4-FFF2-40B4-BE49-F238E27FC236}">
                <a16:creationId xmlns:a16="http://schemas.microsoft.com/office/drawing/2014/main" id="{80D75AD7-E4C1-DAF0-999C-701ADBC5571D}"/>
              </a:ext>
            </a:extLst>
          </p:cNvPr>
          <p:cNvPicPr>
            <a:picLocks noGrp="1" noChangeAspect="1"/>
          </p:cNvPicPr>
          <p:nvPr>
            <p:ph idx="1"/>
          </p:nvPr>
        </p:nvPicPr>
        <p:blipFill>
          <a:blip r:embed="rId3"/>
          <a:stretch>
            <a:fillRect/>
          </a:stretch>
        </p:blipFill>
        <p:spPr>
          <a:xfrm>
            <a:off x="838200" y="647701"/>
            <a:ext cx="10515600" cy="5072657"/>
          </a:xfrm>
        </p:spPr>
      </p:pic>
      <p:sp>
        <p:nvSpPr>
          <p:cNvPr id="7" name="TextBox 6">
            <a:extLst>
              <a:ext uri="{FF2B5EF4-FFF2-40B4-BE49-F238E27FC236}">
                <a16:creationId xmlns:a16="http://schemas.microsoft.com/office/drawing/2014/main" id="{1F40ECA3-A47E-35B3-3704-5F758B87BCC5}"/>
              </a:ext>
            </a:extLst>
          </p:cNvPr>
          <p:cNvSpPr txBox="1"/>
          <p:nvPr/>
        </p:nvSpPr>
        <p:spPr>
          <a:xfrm>
            <a:off x="6303981" y="5288340"/>
            <a:ext cx="5049819" cy="1754326"/>
          </a:xfrm>
          <a:prstGeom prst="rect">
            <a:avLst/>
          </a:prstGeom>
          <a:noFill/>
        </p:spPr>
        <p:txBody>
          <a:bodyPr wrap="square" rtlCol="0">
            <a:spAutoFit/>
          </a:bodyPr>
          <a:lstStyle/>
          <a:p>
            <a:r>
              <a:rPr lang="en-US" sz="3600" b="1" dirty="0">
                <a:latin typeface="+mj-lt"/>
              </a:rPr>
              <a:t>WORKFLOW OF THE PROCESS </a:t>
            </a:r>
          </a:p>
          <a:p>
            <a:endParaRPr lang="en-US" sz="3600" dirty="0"/>
          </a:p>
        </p:txBody>
      </p:sp>
    </p:spTree>
    <p:extLst>
      <p:ext uri="{BB962C8B-B14F-4D97-AF65-F5344CB8AC3E}">
        <p14:creationId xmlns:p14="http://schemas.microsoft.com/office/powerpoint/2010/main" val="3220128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F18414D-1626-4996-AACB-23D3DE45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8F857F35-A44D-FCC6-9EAC-5754728BCA8C}"/>
              </a:ext>
            </a:extLst>
          </p:cNvPr>
          <p:cNvSpPr>
            <a:spLocks noGrp="1"/>
          </p:cNvSpPr>
          <p:nvPr>
            <p:ph type="ctrTitle"/>
          </p:nvPr>
        </p:nvSpPr>
        <p:spPr>
          <a:xfrm>
            <a:off x="2428875" y="707132"/>
            <a:ext cx="3667125" cy="2387600"/>
          </a:xfrm>
        </p:spPr>
        <p:txBody>
          <a:bodyPr>
            <a:normAutofit/>
          </a:bodyPr>
          <a:lstStyle/>
          <a:p>
            <a:pPr algn="l"/>
            <a:r>
              <a:rPr lang="en-US" sz="3500" b="1" dirty="0">
                <a:solidFill>
                  <a:schemeClr val="bg1"/>
                </a:solidFill>
                <a:latin typeface="Times New Roman" panose="02020603050405020304" pitchFamily="18" charset="0"/>
                <a:cs typeface="Times New Roman" panose="02020603050405020304" pitchFamily="18" charset="0"/>
              </a:rPr>
              <a:t>DATA COLLECTION</a:t>
            </a:r>
          </a:p>
        </p:txBody>
      </p:sp>
      <p:sp>
        <p:nvSpPr>
          <p:cNvPr id="4" name="Subtitle 3">
            <a:extLst>
              <a:ext uri="{FF2B5EF4-FFF2-40B4-BE49-F238E27FC236}">
                <a16:creationId xmlns:a16="http://schemas.microsoft.com/office/drawing/2014/main" id="{EDC759EC-6B33-CA24-9B51-80D01BDC4D32}"/>
              </a:ext>
            </a:extLst>
          </p:cNvPr>
          <p:cNvSpPr>
            <a:spLocks noGrp="1"/>
          </p:cNvSpPr>
          <p:nvPr>
            <p:ph type="subTitle" idx="1"/>
          </p:nvPr>
        </p:nvSpPr>
        <p:spPr>
          <a:xfrm>
            <a:off x="2428876" y="3494783"/>
            <a:ext cx="3667124" cy="2201159"/>
          </a:xfrm>
        </p:spPr>
        <p:txBody>
          <a:bodyPr>
            <a:normAutofit/>
          </a:bodyPr>
          <a:lstStyle/>
          <a:p>
            <a:pPr algn="l"/>
            <a:endParaRPr lang="en-US" sz="2000">
              <a:solidFill>
                <a:schemeClr val="bg1"/>
              </a:solidFill>
            </a:endParaRPr>
          </a:p>
        </p:txBody>
      </p:sp>
      <p:cxnSp>
        <p:nvCxnSpPr>
          <p:cNvPr id="26" name="Straight Connector 25">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3209925"/>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Graphic 7" descr="Bar chart">
            <a:extLst>
              <a:ext uri="{FF2B5EF4-FFF2-40B4-BE49-F238E27FC236}">
                <a16:creationId xmlns:a16="http://schemas.microsoft.com/office/drawing/2014/main" id="{1FAFBDD8-2A7F-075F-7A90-B0E4CD40B5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47472" y="1069837"/>
            <a:ext cx="4718321" cy="4718321"/>
          </a:xfrm>
          <a:prstGeom prst="rect">
            <a:avLst/>
          </a:prstGeom>
        </p:spPr>
      </p:pic>
      <p:sp>
        <p:nvSpPr>
          <p:cNvPr id="28" name="Rectangle 27">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2770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1ACB9BF-7587-EEF4-41D4-2AD22E8EA76B}"/>
              </a:ext>
            </a:extLst>
          </p:cNvPr>
          <p:cNvSpPr txBox="1"/>
          <p:nvPr/>
        </p:nvSpPr>
        <p:spPr>
          <a:xfrm>
            <a:off x="1392667" y="2362381"/>
            <a:ext cx="9406666" cy="3526144"/>
          </a:xfrm>
          <a:prstGeom prst="rect">
            <a:avLst/>
          </a:prstGeom>
        </p:spPr>
        <p:txBody>
          <a:bodyPr vert="horz" lIns="91440" tIns="45720" rIns="91440" bIns="45720" rtlCol="0">
            <a:normAutofit/>
          </a:bodyPr>
          <a:lstStyle/>
          <a:p>
            <a:pPr marL="342900" indent="-228600" defTabSz="914400">
              <a:lnSpc>
                <a:spcPct val="90000"/>
              </a:lnSpc>
              <a:spcAft>
                <a:spcPts val="600"/>
              </a:spcAft>
              <a:buFont typeface="Arial" panose="020B0604020202020204" pitchFamily="34" charset="0"/>
              <a:buChar char="•"/>
            </a:pPr>
            <a:r>
              <a:rPr lang="en-US" sz="2000" dirty="0">
                <a:solidFill>
                  <a:schemeClr val="bg1"/>
                </a:solidFill>
              </a:rPr>
              <a:t>Surfed through various websites.</a:t>
            </a:r>
          </a:p>
          <a:p>
            <a:pPr indent="-228600" defTabSz="914400">
              <a:lnSpc>
                <a:spcPct val="90000"/>
              </a:lnSpc>
              <a:spcAft>
                <a:spcPts val="600"/>
              </a:spcAft>
              <a:buFont typeface="Arial" panose="020B0604020202020204" pitchFamily="34" charset="0"/>
              <a:buChar char="•"/>
            </a:pPr>
            <a:endParaRPr lang="en-US" sz="2000" dirty="0">
              <a:solidFill>
                <a:schemeClr val="bg1"/>
              </a:solidFill>
            </a:endParaRPr>
          </a:p>
          <a:p>
            <a:pPr marL="342900" indent="-228600" defTabSz="914400">
              <a:lnSpc>
                <a:spcPct val="90000"/>
              </a:lnSpc>
              <a:spcAft>
                <a:spcPts val="600"/>
              </a:spcAft>
              <a:buFont typeface="Arial" panose="020B0604020202020204" pitchFamily="34" charset="0"/>
              <a:buChar char="•"/>
            </a:pPr>
            <a:r>
              <a:rPr lang="en-US" sz="2000" dirty="0">
                <a:solidFill>
                  <a:schemeClr val="bg1"/>
                </a:solidFill>
              </a:rPr>
              <a:t>Collected datasets based on the specific topic</a:t>
            </a:r>
          </a:p>
          <a:p>
            <a:pPr indent="-228600" defTabSz="914400">
              <a:lnSpc>
                <a:spcPct val="90000"/>
              </a:lnSpc>
              <a:spcAft>
                <a:spcPts val="600"/>
              </a:spcAft>
              <a:buFont typeface="Arial" panose="020B0604020202020204" pitchFamily="34" charset="0"/>
              <a:buChar char="•"/>
            </a:pPr>
            <a:endParaRPr lang="en-US" sz="2000" dirty="0">
              <a:solidFill>
                <a:schemeClr val="bg1"/>
              </a:solidFill>
            </a:endParaRPr>
          </a:p>
          <a:p>
            <a:pPr marL="342900" indent="-228600" defTabSz="914400">
              <a:lnSpc>
                <a:spcPct val="90000"/>
              </a:lnSpc>
              <a:spcAft>
                <a:spcPts val="600"/>
              </a:spcAft>
              <a:buFont typeface="Arial" panose="020B0604020202020204" pitchFamily="34" charset="0"/>
              <a:buChar char="•"/>
            </a:pPr>
            <a:r>
              <a:rPr lang="en-US" sz="2000" dirty="0">
                <a:solidFill>
                  <a:schemeClr val="bg1"/>
                </a:solidFill>
              </a:rPr>
              <a:t>In this research work, we gathered data from one of the most reputated website</a:t>
            </a:r>
          </a:p>
          <a:p>
            <a:pPr marL="342900" indent="-228600" defTabSz="914400">
              <a:lnSpc>
                <a:spcPct val="90000"/>
              </a:lnSpc>
              <a:spcAft>
                <a:spcPts val="600"/>
              </a:spcAft>
              <a:buFont typeface="Arial" panose="020B0604020202020204" pitchFamily="34" charset="0"/>
              <a:buChar char="•"/>
            </a:pPr>
            <a:endParaRPr lang="en-US" sz="2000" dirty="0">
              <a:solidFill>
                <a:schemeClr val="bg1"/>
              </a:solidFill>
            </a:endParaRPr>
          </a:p>
          <a:p>
            <a:pPr marL="342900" indent="-228600" defTabSz="914400">
              <a:lnSpc>
                <a:spcPct val="90000"/>
              </a:lnSpc>
              <a:spcAft>
                <a:spcPts val="600"/>
              </a:spcAft>
              <a:buFont typeface="Arial" panose="020B0604020202020204" pitchFamily="34" charset="0"/>
              <a:buChar char="•"/>
            </a:pPr>
            <a:r>
              <a:rPr lang="en-US" sz="2000" dirty="0">
                <a:solidFill>
                  <a:schemeClr val="bg1"/>
                </a:solidFill>
              </a:rPr>
              <a:t>Dataset files</a:t>
            </a:r>
          </a:p>
          <a:p>
            <a:pPr marL="800100" lvl="1" indent="-228600" defTabSz="914400">
              <a:lnSpc>
                <a:spcPct val="90000"/>
              </a:lnSpc>
              <a:spcAft>
                <a:spcPts val="600"/>
              </a:spcAft>
              <a:buFont typeface="Arial" panose="020B0604020202020204" pitchFamily="34" charset="0"/>
              <a:buChar char="•"/>
            </a:pPr>
            <a:r>
              <a:rPr lang="en-US" sz="2000" dirty="0">
                <a:solidFill>
                  <a:schemeClr val="bg1"/>
                </a:solidFill>
              </a:rPr>
              <a:t>Inflation Rates</a:t>
            </a:r>
          </a:p>
          <a:p>
            <a:pPr marL="800100" lvl="1" indent="-228600" defTabSz="914400">
              <a:lnSpc>
                <a:spcPct val="90000"/>
              </a:lnSpc>
              <a:spcAft>
                <a:spcPts val="600"/>
              </a:spcAft>
              <a:buFont typeface="Arial" panose="020B0604020202020204" pitchFamily="34" charset="0"/>
              <a:buChar char="•"/>
            </a:pPr>
            <a:r>
              <a:rPr lang="en-US" sz="2000" dirty="0">
                <a:solidFill>
                  <a:schemeClr val="bg1"/>
                </a:solidFill>
              </a:rPr>
              <a:t>USD &amp; INR Exchange Rates</a:t>
            </a:r>
          </a:p>
        </p:txBody>
      </p:sp>
      <p:sp>
        <p:nvSpPr>
          <p:cNvPr id="13" name="Rectangle 12">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6328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lluminated server room panel">
            <a:extLst>
              <a:ext uri="{FF2B5EF4-FFF2-40B4-BE49-F238E27FC236}">
                <a16:creationId xmlns:a16="http://schemas.microsoft.com/office/drawing/2014/main" id="{CC9F15BB-C5D1-79D9-5452-2041448D18D9}"/>
              </a:ext>
            </a:extLst>
          </p:cNvPr>
          <p:cNvPicPr>
            <a:picLocks noChangeAspect="1"/>
          </p:cNvPicPr>
          <p:nvPr/>
        </p:nvPicPr>
        <p:blipFill>
          <a:blip r:embed="rId2"/>
          <a:srcRect l="14032" t="9091" r="9266"/>
          <a:stretch/>
        </p:blipFill>
        <p:spPr>
          <a:xfrm>
            <a:off x="-2" y="10"/>
            <a:ext cx="8668512" cy="6857990"/>
          </a:xfrm>
          <a:prstGeom prst="rect">
            <a:avLst/>
          </a:prstGeom>
        </p:spPr>
      </p:pic>
      <p:sp>
        <p:nvSpPr>
          <p:cNvPr id="37" name="Rectangle 36">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tx1"/>
              </a:gs>
              <a:gs pos="30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825E02-40D2-D5B4-4077-443A95738903}"/>
              </a:ext>
            </a:extLst>
          </p:cNvPr>
          <p:cNvSpPr>
            <a:spLocks noGrp="1"/>
          </p:cNvSpPr>
          <p:nvPr>
            <p:ph type="title"/>
          </p:nvPr>
        </p:nvSpPr>
        <p:spPr>
          <a:xfrm>
            <a:off x="7848600" y="1122363"/>
            <a:ext cx="4023360" cy="3204134"/>
          </a:xfrm>
        </p:spPr>
        <p:txBody>
          <a:bodyPr vert="horz" lIns="91440" tIns="45720" rIns="91440" bIns="45720" rtlCol="0" anchor="b">
            <a:normAutofit/>
          </a:bodyPr>
          <a:lstStyle/>
          <a:p>
            <a:r>
              <a:rPr lang="en-US" sz="4800">
                <a:solidFill>
                  <a:schemeClr val="bg1"/>
                </a:solidFill>
              </a:rPr>
              <a:t>DATA CLEANING</a:t>
            </a:r>
          </a:p>
        </p:txBody>
      </p:sp>
      <p:sp>
        <p:nvSpPr>
          <p:cNvPr id="39" name="Rectangle 3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 name="Rectangle 4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709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B3FCA6D-51C3-A7D4-A847-7EEC86D55E63}"/>
              </a:ext>
            </a:extLst>
          </p:cNvPr>
          <p:cNvSpPr>
            <a:spLocks noGrp="1"/>
          </p:cNvSpPr>
          <p:nvPr>
            <p:ph idx="1"/>
          </p:nvPr>
        </p:nvSpPr>
        <p:spPr>
          <a:xfrm>
            <a:off x="1392667" y="2398957"/>
            <a:ext cx="9406666" cy="3526144"/>
          </a:xfrm>
        </p:spPr>
        <p:txBody>
          <a:bodyPr>
            <a:normAutofit/>
          </a:bodyPr>
          <a:lstStyle/>
          <a:p>
            <a:r>
              <a:rPr lang="en-US" sz="2000">
                <a:solidFill>
                  <a:schemeClr val="bg1"/>
                </a:solidFill>
              </a:rPr>
              <a:t>Processed the data using python.</a:t>
            </a:r>
          </a:p>
          <a:p>
            <a:pPr marL="0" indent="0">
              <a:buNone/>
            </a:pPr>
            <a:endParaRPr lang="en-US" sz="2000">
              <a:solidFill>
                <a:schemeClr val="bg1"/>
              </a:solidFill>
            </a:endParaRPr>
          </a:p>
          <a:p>
            <a:r>
              <a:rPr lang="en-US" sz="2000">
                <a:solidFill>
                  <a:schemeClr val="bg1"/>
                </a:solidFill>
              </a:rPr>
              <a:t>Presented the final data in Jupyter notebook.</a:t>
            </a:r>
          </a:p>
          <a:p>
            <a:pPr marL="0" indent="0">
              <a:buNone/>
            </a:pPr>
            <a:endParaRPr lang="en-US" sz="2000">
              <a:solidFill>
                <a:schemeClr val="bg1"/>
              </a:solidFill>
            </a:endParaRPr>
          </a:p>
          <a:p>
            <a:r>
              <a:rPr lang="en-US" sz="2000">
                <a:solidFill>
                  <a:schemeClr val="bg1"/>
                </a:solidFill>
              </a:rPr>
              <a:t>Reviewed the data by using few and simple functions .</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586C4C-89C5-F6E7-1259-009A7EECD4C4}"/>
              </a:ext>
            </a:extLst>
          </p:cNvPr>
          <p:cNvSpPr>
            <a:spLocks noGrp="1"/>
          </p:cNvSpPr>
          <p:nvPr>
            <p:ph type="title"/>
          </p:nvPr>
        </p:nvSpPr>
        <p:spPr>
          <a:xfrm>
            <a:off x="329376" y="-2566535"/>
            <a:ext cx="10515600" cy="1325563"/>
          </a:xfrm>
        </p:spPr>
        <p:txBody>
          <a:bodyPr/>
          <a:lstStyle/>
          <a:p>
            <a:endParaRPr lang="en-US" dirty="0"/>
          </a:p>
        </p:txBody>
      </p:sp>
    </p:spTree>
    <p:extLst>
      <p:ext uri="{BB962C8B-B14F-4D97-AF65-F5344CB8AC3E}">
        <p14:creationId xmlns:p14="http://schemas.microsoft.com/office/powerpoint/2010/main" val="666692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A464D8F0-8ADF-41F0-B6EF-EDCB07786F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13871"/>
            <a:ext cx="1861854" cy="717514"/>
            <a:chOff x="0" y="604259"/>
            <a:chExt cx="1861854" cy="717514"/>
          </a:xfrm>
          <a:solidFill>
            <a:srgbClr val="FFFFFF"/>
          </a:solidFill>
        </p:grpSpPr>
        <p:sp>
          <p:nvSpPr>
            <p:cNvPr id="23" name="Freeform: Shape 22">
              <a:extLst>
                <a:ext uri="{FF2B5EF4-FFF2-40B4-BE49-F238E27FC236}">
                  <a16:creationId xmlns:a16="http://schemas.microsoft.com/office/drawing/2014/main" id="{75682B8C-4240-452F-96C1-4CD7E59B58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43" name="Freeform: Shape 23">
              <a:extLst>
                <a:ext uri="{FF2B5EF4-FFF2-40B4-BE49-F238E27FC236}">
                  <a16:creationId xmlns:a16="http://schemas.microsoft.com/office/drawing/2014/main" id="{52E986DD-2E0C-40E9-A0B4-1492E7C94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nvGrpSpPr>
          <p:cNvPr id="26" name="Group 25">
            <a:extLst>
              <a:ext uri="{FF2B5EF4-FFF2-40B4-BE49-F238E27FC236}">
                <a16:creationId xmlns:a16="http://schemas.microsoft.com/office/drawing/2014/main" id="{E21147CC-0146-459F-AC50-3DE54A0E7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13871"/>
            <a:ext cx="1861854" cy="717514"/>
            <a:chOff x="0" y="604259"/>
            <a:chExt cx="1861854" cy="717514"/>
          </a:xfrm>
          <a:solidFill>
            <a:schemeClr val="bg1"/>
          </a:solidFill>
        </p:grpSpPr>
        <p:sp>
          <p:nvSpPr>
            <p:cNvPr id="27" name="Freeform: Shape 26">
              <a:extLst>
                <a:ext uri="{FF2B5EF4-FFF2-40B4-BE49-F238E27FC236}">
                  <a16:creationId xmlns:a16="http://schemas.microsoft.com/office/drawing/2014/main" id="{0C8971EE-FF2D-4E91-9815-2CCC66CD9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8" name="Freeform: Shape 27">
              <a:extLst>
                <a:ext uri="{FF2B5EF4-FFF2-40B4-BE49-F238E27FC236}">
                  <a16:creationId xmlns:a16="http://schemas.microsoft.com/office/drawing/2014/main" id="{4921A2CC-9B13-43D7-8074-9B7479CEB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grpSp>
        <p:nvGrpSpPr>
          <p:cNvPr id="30" name="Group 29">
            <a:extLst>
              <a:ext uri="{FF2B5EF4-FFF2-40B4-BE49-F238E27FC236}">
                <a16:creationId xmlns:a16="http://schemas.microsoft.com/office/drawing/2014/main" id="{CE7D92DE-9334-4F12-AD6B-8548D4F9A1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0364" y="1215898"/>
            <a:ext cx="3959478" cy="4710717"/>
            <a:chOff x="1674895" y="1345036"/>
            <a:chExt cx="5428610" cy="4210939"/>
          </a:xfrm>
        </p:grpSpPr>
        <p:sp>
          <p:nvSpPr>
            <p:cNvPr id="31" name="Rectangle 30">
              <a:extLst>
                <a:ext uri="{FF2B5EF4-FFF2-40B4-BE49-F238E27FC236}">
                  <a16:creationId xmlns:a16="http://schemas.microsoft.com/office/drawing/2014/main" id="{DA39D0FC-B65F-4D5D-A8AD-6D0E6C4D6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63AFBF5-FA42-4BA8-BCE4-E37A127ACF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BE1E800F-93B7-4AB7-B63A-E4C4E9C2C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39" y="1073781"/>
            <a:ext cx="4027288" cy="472773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D7538-D2AE-06A7-551F-6744D283138B}"/>
              </a:ext>
            </a:extLst>
          </p:cNvPr>
          <p:cNvSpPr>
            <a:spLocks noGrp="1"/>
          </p:cNvSpPr>
          <p:nvPr>
            <p:ph type="title"/>
          </p:nvPr>
        </p:nvSpPr>
        <p:spPr>
          <a:xfrm>
            <a:off x="873980" y="1274547"/>
            <a:ext cx="3394706" cy="2783077"/>
          </a:xfrm>
        </p:spPr>
        <p:txBody>
          <a:bodyPr vert="horz" lIns="91440" tIns="45720" rIns="91440" bIns="45720" rtlCol="0" anchor="b">
            <a:normAutofit/>
          </a:bodyPr>
          <a:lstStyle/>
          <a:p>
            <a:r>
              <a:rPr lang="en-US" sz="5400" b="1" dirty="0">
                <a:solidFill>
                  <a:schemeClr val="bg1"/>
                </a:solidFill>
              </a:rPr>
              <a:t>Glimpse of both Data Sets</a:t>
            </a:r>
          </a:p>
        </p:txBody>
      </p:sp>
      <p:sp>
        <p:nvSpPr>
          <p:cNvPr id="36" name="Freeform: Shape 3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0" name="Freeform: Shape 37">
            <a:extLst>
              <a:ext uri="{FF2B5EF4-FFF2-40B4-BE49-F238E27FC236}">
                <a16:creationId xmlns:a16="http://schemas.microsoft.com/office/drawing/2014/main" id="{A1A59942-B6FE-4CF6-8242-F6EE3231B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1" name="Oval 50">
            <a:extLst>
              <a:ext uri="{FF2B5EF4-FFF2-40B4-BE49-F238E27FC236}">
                <a16:creationId xmlns:a16="http://schemas.microsoft.com/office/drawing/2014/main" id="{F2D9628C-9189-4868-B8AA-1727266FE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423" y="4590987"/>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1AF05241-2204-496E-AD1F-68B31922B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423" y="4590987"/>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Content Placeholder 4" descr="A screenshot of a cell phone&#10;&#10;Description automatically generated">
            <a:extLst>
              <a:ext uri="{FF2B5EF4-FFF2-40B4-BE49-F238E27FC236}">
                <a16:creationId xmlns:a16="http://schemas.microsoft.com/office/drawing/2014/main" id="{BD4C182C-5C74-066A-7ADD-6D3AE95070CF}"/>
              </a:ext>
            </a:extLst>
          </p:cNvPr>
          <p:cNvPicPr>
            <a:picLocks noGrp="1" noChangeAspect="1"/>
          </p:cNvPicPr>
          <p:nvPr>
            <p:ph idx="1"/>
          </p:nvPr>
        </p:nvPicPr>
        <p:blipFill>
          <a:blip r:embed="rId2"/>
          <a:stretch>
            <a:fillRect/>
          </a:stretch>
        </p:blipFill>
        <p:spPr>
          <a:xfrm>
            <a:off x="8979829" y="672518"/>
            <a:ext cx="2394761" cy="5668079"/>
          </a:xfrm>
          <a:prstGeom prst="rect">
            <a:avLst/>
          </a:prstGeom>
          <a:ln w="28575">
            <a:noFill/>
          </a:ln>
        </p:spPr>
      </p:pic>
      <p:pic>
        <p:nvPicPr>
          <p:cNvPr id="7" name="Picture 6" descr="A table of statistics with numbers&#10;&#10;Description automatically generated with medium confidence">
            <a:extLst>
              <a:ext uri="{FF2B5EF4-FFF2-40B4-BE49-F238E27FC236}">
                <a16:creationId xmlns:a16="http://schemas.microsoft.com/office/drawing/2014/main" id="{F5DD746C-7DDA-34F8-7094-F9D194501FE3}"/>
              </a:ext>
            </a:extLst>
          </p:cNvPr>
          <p:cNvPicPr>
            <a:picLocks noChangeAspect="1"/>
          </p:cNvPicPr>
          <p:nvPr/>
        </p:nvPicPr>
        <p:blipFill>
          <a:blip r:embed="rId3"/>
          <a:stretch>
            <a:fillRect/>
          </a:stretch>
        </p:blipFill>
        <p:spPr>
          <a:xfrm>
            <a:off x="5009725" y="931385"/>
            <a:ext cx="3625497" cy="5254346"/>
          </a:xfrm>
          <a:prstGeom prst="rect">
            <a:avLst/>
          </a:prstGeom>
        </p:spPr>
      </p:pic>
      <p:grpSp>
        <p:nvGrpSpPr>
          <p:cNvPr id="4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chemeClr val="bg1"/>
          </a:solidFill>
        </p:grpSpPr>
        <p:sp>
          <p:nvSpPr>
            <p:cNvPr id="45" name="Freeform: Shape 4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00704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of an electromagnetic radiation">
            <a:extLst>
              <a:ext uri="{FF2B5EF4-FFF2-40B4-BE49-F238E27FC236}">
                <a16:creationId xmlns:a16="http://schemas.microsoft.com/office/drawing/2014/main" id="{296FD927-D982-912C-4A0D-65412596A352}"/>
              </a:ext>
            </a:extLst>
          </p:cNvPr>
          <p:cNvPicPr>
            <a:picLocks noChangeAspect="1"/>
          </p:cNvPicPr>
          <p:nvPr/>
        </p:nvPicPr>
        <p:blipFill>
          <a:blip r:embed="rId2"/>
          <a:srcRect t="7696" r="23010" b="1393"/>
          <a:stretch/>
        </p:blipFill>
        <p:spPr>
          <a:xfrm>
            <a:off x="3523488" y="10"/>
            <a:ext cx="8668512" cy="6857990"/>
          </a:xfrm>
          <a:prstGeom prst="rect">
            <a:avLst/>
          </a:prstGeom>
        </p:spPr>
      </p:pic>
      <p:sp>
        <p:nvSpPr>
          <p:cNvPr id="22" name="Rectangle 2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9A3064-36B2-B9D3-22E5-62F59319B5D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b="1">
                <a:solidFill>
                  <a:schemeClr val="bg1"/>
                </a:solidFill>
              </a:rPr>
              <a:t>Descriptive Analysis</a:t>
            </a:r>
            <a:br>
              <a:rPr lang="en-US" sz="4800" b="1">
                <a:solidFill>
                  <a:schemeClr val="bg1"/>
                </a:solidFill>
              </a:rPr>
            </a:br>
            <a:endParaRPr lang="en-US" sz="4800">
              <a:solidFill>
                <a:schemeClr val="bg1"/>
              </a:solidFill>
            </a:endParaRPr>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3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2C5ACC-3AB2-687F-4049-489BB5F8CC1B}"/>
              </a:ext>
            </a:extLst>
          </p:cNvPr>
          <p:cNvSpPr>
            <a:spLocks noGrp="1"/>
          </p:cNvSpPr>
          <p:nvPr>
            <p:ph type="title"/>
          </p:nvPr>
        </p:nvSpPr>
        <p:spPr>
          <a:xfrm>
            <a:off x="638556" y="-2615819"/>
            <a:ext cx="10515600" cy="1325563"/>
          </a:xfrm>
        </p:spPr>
        <p:txBody>
          <a:bodyPr/>
          <a:lstStyle/>
          <a:p>
            <a:endParaRPr lang="en-US" dirty="0"/>
          </a:p>
        </p:txBody>
      </p:sp>
      <p:graphicFrame>
        <p:nvGraphicFramePr>
          <p:cNvPr id="5" name="Content Placeholder 2">
            <a:extLst>
              <a:ext uri="{FF2B5EF4-FFF2-40B4-BE49-F238E27FC236}">
                <a16:creationId xmlns:a16="http://schemas.microsoft.com/office/drawing/2014/main" id="{A8EE403B-6174-9F06-F309-A6FA0B582938}"/>
              </a:ext>
            </a:extLst>
          </p:cNvPr>
          <p:cNvGraphicFramePr>
            <a:graphicFrameLocks noGrp="1"/>
          </p:cNvGraphicFramePr>
          <p:nvPr>
            <p:ph idx="1"/>
            <p:extLst>
              <p:ext uri="{D42A27DB-BD31-4B8C-83A1-F6EECF244321}">
                <p14:modId xmlns:p14="http://schemas.microsoft.com/office/powerpoint/2010/main" val="18253093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7038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ample being pipetted into a petri dish">
            <a:extLst>
              <a:ext uri="{FF2B5EF4-FFF2-40B4-BE49-F238E27FC236}">
                <a16:creationId xmlns:a16="http://schemas.microsoft.com/office/drawing/2014/main" id="{34862692-9B2C-2C07-8E76-2370F8D49A13}"/>
              </a:ext>
            </a:extLst>
          </p:cNvPr>
          <p:cNvPicPr>
            <a:picLocks noChangeAspect="1"/>
          </p:cNvPicPr>
          <p:nvPr/>
        </p:nvPicPr>
        <p:blipFill>
          <a:blip r:embed="rId2"/>
          <a:srcRect l="5516" r="-2" b="-2"/>
          <a:stretch/>
        </p:blipFill>
        <p:spPr>
          <a:xfrm>
            <a:off x="3523488" y="10"/>
            <a:ext cx="8668512" cy="6857990"/>
          </a:xfrm>
          <a:prstGeom prst="rect">
            <a:avLst/>
          </a:prstGeom>
        </p:spPr>
      </p:pic>
      <p:sp>
        <p:nvSpPr>
          <p:cNvPr id="8" name="Rectangle 7">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AF1B7C-9F29-C1FE-DA00-7F693181279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solidFill>
                  <a:schemeClr val="bg1"/>
                </a:solidFill>
              </a:rPr>
              <a:t>Exploratory Analysis</a:t>
            </a:r>
          </a:p>
        </p:txBody>
      </p:sp>
      <p:sp>
        <p:nvSpPr>
          <p:cNvPr id="10" name="Rectangle 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4307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37" name="Straight Connector 3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5867EC-D98D-668B-E38B-9A551692579B}"/>
              </a:ext>
            </a:extLst>
          </p:cNvPr>
          <p:cNvSpPr>
            <a:spLocks noGrp="1"/>
          </p:cNvSpPr>
          <p:nvPr>
            <p:ph type="title"/>
          </p:nvPr>
        </p:nvSpPr>
        <p:spPr>
          <a:xfrm>
            <a:off x="838200" y="-2908427"/>
            <a:ext cx="10515600" cy="1325563"/>
          </a:xfrm>
        </p:spPr>
        <p:txBody>
          <a:bodyPr/>
          <a:lstStyle/>
          <a:p>
            <a:endParaRPr lang="en-US" dirty="0"/>
          </a:p>
        </p:txBody>
      </p:sp>
      <p:graphicFrame>
        <p:nvGraphicFramePr>
          <p:cNvPr id="22" name="Content Placeholder 2">
            <a:extLst>
              <a:ext uri="{FF2B5EF4-FFF2-40B4-BE49-F238E27FC236}">
                <a16:creationId xmlns:a16="http://schemas.microsoft.com/office/drawing/2014/main" id="{E033FE09-E24F-C4A3-37B8-D558333E935B}"/>
              </a:ext>
            </a:extLst>
          </p:cNvPr>
          <p:cNvGraphicFramePr/>
          <p:nvPr>
            <p:extLst>
              <p:ext uri="{D42A27DB-BD31-4B8C-83A1-F6EECF244321}">
                <p14:modId xmlns:p14="http://schemas.microsoft.com/office/powerpoint/2010/main" val="462737113"/>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65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9" name="Freeform: Shape 18">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6C9C6BBD-2048-8608-E3A3-7A6D15F1C0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381" y="1279322"/>
            <a:ext cx="10905066" cy="3162465"/>
          </a:xfrm>
          <a:prstGeom prst="rect">
            <a:avLst/>
          </a:prstGeom>
          <a:ln>
            <a:noFill/>
          </a:ln>
        </p:spPr>
      </p:pic>
      <p:sp>
        <p:nvSpPr>
          <p:cNvPr id="3" name="TextBox 2">
            <a:extLst>
              <a:ext uri="{FF2B5EF4-FFF2-40B4-BE49-F238E27FC236}">
                <a16:creationId xmlns:a16="http://schemas.microsoft.com/office/drawing/2014/main" id="{DFF0248F-4AAA-F797-3A06-F2C4EC19BE82}"/>
              </a:ext>
            </a:extLst>
          </p:cNvPr>
          <p:cNvSpPr txBox="1"/>
          <p:nvPr/>
        </p:nvSpPr>
        <p:spPr>
          <a:xfrm>
            <a:off x="994083" y="448324"/>
            <a:ext cx="4629971" cy="830997"/>
          </a:xfrm>
          <a:prstGeom prst="rect">
            <a:avLst/>
          </a:prstGeom>
          <a:noFill/>
        </p:spPr>
        <p:txBody>
          <a:bodyPr wrap="square" rtlCol="0">
            <a:spAutoFit/>
          </a:bodyPr>
          <a:lstStyle/>
          <a:p>
            <a:r>
              <a:rPr lang="en-US" sz="4800" b="1" i="1" kern="1200" dirty="0">
                <a:solidFill>
                  <a:schemeClr val="accent1">
                    <a:lumMod val="60000"/>
                    <a:lumOff val="40000"/>
                  </a:schemeClr>
                </a:solidFill>
                <a:latin typeface="+mj-lt"/>
                <a:ea typeface="+mj-ea"/>
                <a:cs typeface="+mj-cs"/>
              </a:rPr>
              <a:t>ESTIMATATION</a:t>
            </a:r>
            <a:endParaRPr lang="en-US" sz="4800" b="1" i="1" dirty="0">
              <a:solidFill>
                <a:schemeClr val="accent1">
                  <a:lumMod val="60000"/>
                  <a:lumOff val="40000"/>
                </a:schemeClr>
              </a:solidFill>
            </a:endParaRPr>
          </a:p>
        </p:txBody>
      </p:sp>
      <p:sp>
        <p:nvSpPr>
          <p:cNvPr id="4" name="TextBox 3">
            <a:extLst>
              <a:ext uri="{FF2B5EF4-FFF2-40B4-BE49-F238E27FC236}">
                <a16:creationId xmlns:a16="http://schemas.microsoft.com/office/drawing/2014/main" id="{6878E41E-96A6-B4C1-E4FE-F4815733487B}"/>
              </a:ext>
            </a:extLst>
          </p:cNvPr>
          <p:cNvSpPr txBox="1"/>
          <p:nvPr/>
        </p:nvSpPr>
        <p:spPr>
          <a:xfrm>
            <a:off x="940105" y="4755082"/>
            <a:ext cx="10708341" cy="1200329"/>
          </a:xfrm>
          <a:prstGeom prst="rect">
            <a:avLst/>
          </a:prstGeom>
          <a:noFill/>
        </p:spPr>
        <p:txBody>
          <a:bodyPr wrap="square" rtlCol="0">
            <a:spAutoFit/>
          </a:bodyPr>
          <a:lstStyle/>
          <a:p>
            <a:pPr algn="just"/>
            <a:r>
              <a:rPr lang="en-IN" dirty="0"/>
              <a:t>The upward trend of the INR/USD exchange rate over time, indicating a steady depreciation of the Indian Rupee against the U.S. Dollar. </a:t>
            </a:r>
          </a:p>
          <a:p>
            <a:pPr algn="just"/>
            <a:r>
              <a:rPr lang="en-IN" dirty="0"/>
              <a:t>Factors such as inflation disparities, trade imbalances, and economic conditions likely contribute to this long-term  depreciation pattern, reflecting broader macroeconomic trends.</a:t>
            </a:r>
            <a:endParaRPr lang="en-US" dirty="0"/>
          </a:p>
        </p:txBody>
      </p:sp>
    </p:spTree>
    <p:extLst>
      <p:ext uri="{BB962C8B-B14F-4D97-AF65-F5344CB8AC3E}">
        <p14:creationId xmlns:p14="http://schemas.microsoft.com/office/powerpoint/2010/main" val="1677387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3E5381C-08A0-0B02-989F-96EF6D4797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3467" y="1834134"/>
            <a:ext cx="10905066" cy="3189731"/>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6880042-1040-408D-6AB4-4A6FAFAE2922}"/>
              </a:ext>
            </a:extLst>
          </p:cNvPr>
          <p:cNvSpPr txBox="1"/>
          <p:nvPr/>
        </p:nvSpPr>
        <p:spPr>
          <a:xfrm>
            <a:off x="1014523" y="719319"/>
            <a:ext cx="3944541" cy="830997"/>
          </a:xfrm>
          <a:prstGeom prst="rect">
            <a:avLst/>
          </a:prstGeom>
          <a:noFill/>
        </p:spPr>
        <p:txBody>
          <a:bodyPr wrap="none" rtlCol="0">
            <a:spAutoFit/>
          </a:bodyPr>
          <a:lstStyle/>
          <a:p>
            <a:r>
              <a:rPr lang="en-US" sz="4800" b="1" i="1" kern="1200" dirty="0">
                <a:solidFill>
                  <a:schemeClr val="accent1">
                    <a:lumMod val="60000"/>
                    <a:lumOff val="40000"/>
                  </a:schemeClr>
                </a:solidFill>
                <a:latin typeface="+mj-lt"/>
                <a:ea typeface="+mj-ea"/>
                <a:cs typeface="+mj-cs"/>
              </a:rPr>
              <a:t>ESTIMATATION</a:t>
            </a:r>
            <a:endParaRPr lang="en-US" sz="4800" b="1" i="1" dirty="0">
              <a:solidFill>
                <a:schemeClr val="accent1">
                  <a:lumMod val="60000"/>
                  <a:lumOff val="40000"/>
                </a:schemeClr>
              </a:solidFill>
            </a:endParaRPr>
          </a:p>
        </p:txBody>
      </p:sp>
      <p:sp>
        <p:nvSpPr>
          <p:cNvPr id="4" name="TextBox 3">
            <a:extLst>
              <a:ext uri="{FF2B5EF4-FFF2-40B4-BE49-F238E27FC236}">
                <a16:creationId xmlns:a16="http://schemas.microsoft.com/office/drawing/2014/main" id="{030CE8E6-BAE6-8A94-C30D-997EFCCBD5AF}"/>
              </a:ext>
            </a:extLst>
          </p:cNvPr>
          <p:cNvSpPr txBox="1"/>
          <p:nvPr/>
        </p:nvSpPr>
        <p:spPr>
          <a:xfrm>
            <a:off x="537663" y="5121883"/>
            <a:ext cx="11324895" cy="1200329"/>
          </a:xfrm>
          <a:prstGeom prst="rect">
            <a:avLst/>
          </a:prstGeom>
          <a:noFill/>
        </p:spPr>
        <p:txBody>
          <a:bodyPr wrap="none" rtlCol="0">
            <a:spAutoFit/>
          </a:bodyPr>
          <a:lstStyle/>
          <a:p>
            <a:pPr algn="just"/>
            <a:r>
              <a:rPr lang="en-IN" dirty="0"/>
              <a:t>The trend of inflation rates in India, with fluctuations between 4% and 10%. </a:t>
            </a:r>
          </a:p>
          <a:p>
            <a:pPr algn="just"/>
            <a:r>
              <a:rPr lang="en-IN" dirty="0"/>
              <a:t>Periods of peak inflation highlight economic challenges, while declines reflect stabilization efforts. </a:t>
            </a:r>
          </a:p>
          <a:p>
            <a:pPr algn="just"/>
            <a:r>
              <a:rPr lang="en-IN" dirty="0"/>
              <a:t>Such trends impact purchasing power, investment, and currency valuation, contributing to the observed exchange rate </a:t>
            </a:r>
          </a:p>
          <a:p>
            <a:pPr algn="just"/>
            <a:r>
              <a:rPr lang="en-IN" dirty="0"/>
              <a:t>depreciation over time.</a:t>
            </a:r>
            <a:endParaRPr lang="en-US" dirty="0"/>
          </a:p>
        </p:txBody>
      </p:sp>
    </p:spTree>
    <p:extLst>
      <p:ext uri="{BB962C8B-B14F-4D97-AF65-F5344CB8AC3E}">
        <p14:creationId xmlns:p14="http://schemas.microsoft.com/office/powerpoint/2010/main" val="1879473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152691C-704D-86F8-EAE1-F22B91D2BA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3467" y="1725085"/>
            <a:ext cx="10905066" cy="3407829"/>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2B6B29-A8E4-2B3D-3016-1DEDCF113B8A}"/>
              </a:ext>
            </a:extLst>
          </p:cNvPr>
          <p:cNvSpPr txBox="1"/>
          <p:nvPr/>
        </p:nvSpPr>
        <p:spPr>
          <a:xfrm>
            <a:off x="877449" y="583377"/>
            <a:ext cx="3944541" cy="830997"/>
          </a:xfrm>
          <a:prstGeom prst="rect">
            <a:avLst/>
          </a:prstGeom>
          <a:noFill/>
        </p:spPr>
        <p:txBody>
          <a:bodyPr wrap="none" rtlCol="0">
            <a:spAutoFit/>
          </a:bodyPr>
          <a:lstStyle/>
          <a:p>
            <a:r>
              <a:rPr lang="en-US" sz="4800" b="1" i="1" kern="1200" dirty="0">
                <a:solidFill>
                  <a:schemeClr val="accent1">
                    <a:lumMod val="60000"/>
                    <a:lumOff val="40000"/>
                  </a:schemeClr>
                </a:solidFill>
                <a:latin typeface="+mj-lt"/>
                <a:ea typeface="+mj-ea"/>
                <a:cs typeface="+mj-cs"/>
              </a:rPr>
              <a:t>ESTIMATATION</a:t>
            </a:r>
            <a:endParaRPr lang="en-US" sz="4800" b="1" i="1" dirty="0">
              <a:solidFill>
                <a:schemeClr val="accent1">
                  <a:lumMod val="60000"/>
                  <a:lumOff val="40000"/>
                </a:schemeClr>
              </a:solidFill>
            </a:endParaRPr>
          </a:p>
        </p:txBody>
      </p:sp>
      <p:sp>
        <p:nvSpPr>
          <p:cNvPr id="4" name="TextBox 3">
            <a:extLst>
              <a:ext uri="{FF2B5EF4-FFF2-40B4-BE49-F238E27FC236}">
                <a16:creationId xmlns:a16="http://schemas.microsoft.com/office/drawing/2014/main" id="{3051CF8F-9E59-3A45-AFE2-AE278A47F857}"/>
              </a:ext>
            </a:extLst>
          </p:cNvPr>
          <p:cNvSpPr txBox="1"/>
          <p:nvPr/>
        </p:nvSpPr>
        <p:spPr>
          <a:xfrm>
            <a:off x="315347" y="5177554"/>
            <a:ext cx="11447162" cy="1200329"/>
          </a:xfrm>
          <a:prstGeom prst="rect">
            <a:avLst/>
          </a:prstGeom>
          <a:noFill/>
        </p:spPr>
        <p:txBody>
          <a:bodyPr wrap="square" rtlCol="0">
            <a:spAutoFit/>
          </a:bodyPr>
          <a:lstStyle/>
          <a:p>
            <a:pPr algn="just"/>
            <a:r>
              <a:rPr lang="en-IN" dirty="0"/>
              <a:t>U.S. inflation trends (2005-2025), highlighting stable rates around 2-4% until the 2008 financial crisis caused deflation. </a:t>
            </a:r>
          </a:p>
          <a:p>
            <a:pPr algn="just"/>
            <a:r>
              <a:rPr lang="en-IN" dirty="0"/>
              <a:t>Post-crisis recovery stabilized inflation, but COVID-19 disruptions in 2020 led to a sharp spike near 8%. </a:t>
            </a:r>
          </a:p>
          <a:p>
            <a:pPr algn="just"/>
            <a:r>
              <a:rPr lang="en-IN" dirty="0"/>
              <a:t>Subsequent Federal Reserve measures brought inflation down, reflecting economic adjustments and monetary tightening policies.</a:t>
            </a:r>
            <a:endParaRPr lang="en-US" dirty="0"/>
          </a:p>
        </p:txBody>
      </p:sp>
    </p:spTree>
    <p:extLst>
      <p:ext uri="{BB962C8B-B14F-4D97-AF65-F5344CB8AC3E}">
        <p14:creationId xmlns:p14="http://schemas.microsoft.com/office/powerpoint/2010/main" val="1096875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D430B992-311A-EC4B-4673-8E90D1B1A383}"/>
              </a:ext>
            </a:extLst>
          </p:cNvPr>
          <p:cNvPicPr>
            <a:picLocks noChangeAspect="1"/>
          </p:cNvPicPr>
          <p:nvPr/>
        </p:nvPicPr>
        <p:blipFill>
          <a:blip r:embed="rId2"/>
          <a:srcRect t="2615"/>
          <a:stretch/>
        </p:blipFill>
        <p:spPr>
          <a:xfrm>
            <a:off x="393716" y="877824"/>
            <a:ext cx="10633394" cy="5980176"/>
          </a:xfrm>
          <a:prstGeom prst="rect">
            <a:avLst/>
          </a:prstGeom>
        </p:spPr>
      </p:pic>
      <p:sp>
        <p:nvSpPr>
          <p:cNvPr id="5" name="TextBox 4">
            <a:extLst>
              <a:ext uri="{FF2B5EF4-FFF2-40B4-BE49-F238E27FC236}">
                <a16:creationId xmlns:a16="http://schemas.microsoft.com/office/drawing/2014/main" id="{74F39972-C583-7E8C-B5F8-7404FC3442BB}"/>
              </a:ext>
            </a:extLst>
          </p:cNvPr>
          <p:cNvSpPr txBox="1"/>
          <p:nvPr/>
        </p:nvSpPr>
        <p:spPr>
          <a:xfrm>
            <a:off x="1005812" y="337634"/>
            <a:ext cx="2361003" cy="830997"/>
          </a:xfrm>
          <a:prstGeom prst="rect">
            <a:avLst/>
          </a:prstGeom>
          <a:noFill/>
        </p:spPr>
        <p:txBody>
          <a:bodyPr wrap="square" rtlCol="0">
            <a:spAutoFit/>
          </a:bodyPr>
          <a:lstStyle/>
          <a:p>
            <a:r>
              <a:rPr lang="en-US" sz="4800" b="1" i="1" kern="1200" dirty="0">
                <a:solidFill>
                  <a:schemeClr val="accent6">
                    <a:lumMod val="60000"/>
                    <a:lumOff val="40000"/>
                  </a:schemeClr>
                </a:solidFill>
                <a:latin typeface="+mj-lt"/>
                <a:ea typeface="+mj-ea"/>
                <a:cs typeface="+mj-cs"/>
              </a:rPr>
              <a:t>TEST</a:t>
            </a:r>
            <a:endParaRPr lang="en-US" sz="4800" b="1" i="1" dirty="0">
              <a:solidFill>
                <a:schemeClr val="accent6">
                  <a:lumMod val="60000"/>
                  <a:lumOff val="40000"/>
                </a:schemeClr>
              </a:solidFill>
            </a:endParaRPr>
          </a:p>
        </p:txBody>
      </p:sp>
      <p:sp>
        <p:nvSpPr>
          <p:cNvPr id="2" name="TextBox 1">
            <a:extLst>
              <a:ext uri="{FF2B5EF4-FFF2-40B4-BE49-F238E27FC236}">
                <a16:creationId xmlns:a16="http://schemas.microsoft.com/office/drawing/2014/main" id="{C6C7CAA6-E16D-CB21-EB28-81115102365E}"/>
              </a:ext>
            </a:extLst>
          </p:cNvPr>
          <p:cNvSpPr txBox="1"/>
          <p:nvPr/>
        </p:nvSpPr>
        <p:spPr>
          <a:xfrm>
            <a:off x="8422098" y="2840855"/>
            <a:ext cx="2997204" cy="3139321"/>
          </a:xfrm>
          <a:prstGeom prst="rect">
            <a:avLst/>
          </a:prstGeom>
          <a:noFill/>
        </p:spPr>
        <p:txBody>
          <a:bodyPr wrap="square" rtlCol="0">
            <a:spAutoFit/>
          </a:bodyPr>
          <a:lstStyle/>
          <a:p>
            <a:pPr algn="just"/>
            <a:r>
              <a:rPr lang="en-IN" dirty="0"/>
              <a:t>This chart compares three indicators: India's exchange rate (INR/USD), inflation rate in India, and inflation rate in the U.S. (2005–2025). </a:t>
            </a:r>
          </a:p>
          <a:p>
            <a:pPr algn="just"/>
            <a:r>
              <a:rPr lang="en-IN" dirty="0"/>
              <a:t>The exchange rate steadily rises, indicating rupee depreciation. India's inflation fluctuates more than the U.S.'s, which remains relatively stable over time.</a:t>
            </a:r>
          </a:p>
        </p:txBody>
      </p:sp>
    </p:spTree>
    <p:extLst>
      <p:ext uri="{BB962C8B-B14F-4D97-AF65-F5344CB8AC3E}">
        <p14:creationId xmlns:p14="http://schemas.microsoft.com/office/powerpoint/2010/main" val="1553864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E39B598-C431-3A6E-F76D-DB7402B96E8B}"/>
              </a:ext>
            </a:extLst>
          </p:cNvPr>
          <p:cNvPicPr>
            <a:picLocks noChangeAspect="1"/>
          </p:cNvPicPr>
          <p:nvPr/>
        </p:nvPicPr>
        <p:blipFill>
          <a:blip r:embed="rId2"/>
          <a:srcRect b="4273"/>
          <a:stretch/>
        </p:blipFill>
        <p:spPr>
          <a:xfrm>
            <a:off x="781547" y="941832"/>
            <a:ext cx="10628906" cy="4974336"/>
          </a:xfrm>
          <a:prstGeom prst="rect">
            <a:avLst/>
          </a:prstGeom>
        </p:spPr>
      </p:pic>
      <p:sp>
        <p:nvSpPr>
          <p:cNvPr id="4" name="TextBox 3">
            <a:extLst>
              <a:ext uri="{FF2B5EF4-FFF2-40B4-BE49-F238E27FC236}">
                <a16:creationId xmlns:a16="http://schemas.microsoft.com/office/drawing/2014/main" id="{DD449992-9319-0BA9-ED10-2978AC7BD0DA}"/>
              </a:ext>
            </a:extLst>
          </p:cNvPr>
          <p:cNvSpPr txBox="1"/>
          <p:nvPr/>
        </p:nvSpPr>
        <p:spPr>
          <a:xfrm>
            <a:off x="1488953" y="526333"/>
            <a:ext cx="3162565" cy="830997"/>
          </a:xfrm>
          <a:prstGeom prst="rect">
            <a:avLst/>
          </a:prstGeom>
          <a:noFill/>
        </p:spPr>
        <p:txBody>
          <a:bodyPr wrap="square" rtlCol="0">
            <a:spAutoFit/>
          </a:bodyPr>
          <a:lstStyle/>
          <a:p>
            <a:r>
              <a:rPr lang="en-US" sz="4800" i="1" dirty="0">
                <a:solidFill>
                  <a:schemeClr val="accent6"/>
                </a:solidFill>
              </a:rPr>
              <a:t>DESCRIBE</a:t>
            </a:r>
          </a:p>
        </p:txBody>
      </p:sp>
      <p:sp>
        <p:nvSpPr>
          <p:cNvPr id="2" name="TextBox 1">
            <a:extLst>
              <a:ext uri="{FF2B5EF4-FFF2-40B4-BE49-F238E27FC236}">
                <a16:creationId xmlns:a16="http://schemas.microsoft.com/office/drawing/2014/main" id="{90AFB08A-ABD8-FEA8-0016-F5ACAD787E3E}"/>
              </a:ext>
            </a:extLst>
          </p:cNvPr>
          <p:cNvSpPr txBox="1"/>
          <p:nvPr/>
        </p:nvSpPr>
        <p:spPr>
          <a:xfrm>
            <a:off x="8573811" y="2638348"/>
            <a:ext cx="2900222" cy="3693319"/>
          </a:xfrm>
          <a:prstGeom prst="rect">
            <a:avLst/>
          </a:prstGeom>
          <a:noFill/>
        </p:spPr>
        <p:txBody>
          <a:bodyPr wrap="square" rtlCol="0">
            <a:spAutoFit/>
          </a:bodyPr>
          <a:lstStyle/>
          <a:p>
            <a:pPr algn="just"/>
            <a:r>
              <a:rPr lang="en-IN" dirty="0"/>
              <a:t>The actual INR/USD exchange rate with the expected exchange rate based on Purchasing Power Parity (PPP) from 2005 to 2025. </a:t>
            </a:r>
          </a:p>
          <a:p>
            <a:pPr algn="just"/>
            <a:r>
              <a:rPr lang="en-IN" dirty="0"/>
              <a:t>The actual rate rises steadily, indicating rupee depreciation, while the PPP rate grows faster, suggesting the rupee is undervalued relative to PPP predictions over time.</a:t>
            </a:r>
          </a:p>
        </p:txBody>
      </p:sp>
    </p:spTree>
    <p:extLst>
      <p:ext uri="{BB962C8B-B14F-4D97-AF65-F5344CB8AC3E}">
        <p14:creationId xmlns:p14="http://schemas.microsoft.com/office/powerpoint/2010/main" val="826505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26B9C132-F410-4EBA-71FC-349BC5BDF280}"/>
              </a:ext>
            </a:extLst>
          </p:cNvPr>
          <p:cNvSpPr>
            <a:spLocks noGrp="1"/>
          </p:cNvSpPr>
          <p:nvPr>
            <p:ph type="title"/>
          </p:nvPr>
        </p:nvSpPr>
        <p:spPr>
          <a:xfrm>
            <a:off x="838200" y="669925"/>
            <a:ext cx="4508946" cy="1325563"/>
          </a:xfrm>
        </p:spPr>
        <p:txBody>
          <a:bodyPr anchor="b">
            <a:normAutofit/>
          </a:bodyPr>
          <a:lstStyle/>
          <a:p>
            <a:pPr algn="r"/>
            <a:r>
              <a:rPr lang="en-US" b="1" dirty="0">
                <a:solidFill>
                  <a:schemeClr val="bg1"/>
                </a:solidFill>
              </a:rPr>
              <a:t>BENEFITS</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9BB7CB2-B44B-340E-A037-88378A5F5D9A}"/>
              </a:ext>
            </a:extLst>
          </p:cNvPr>
          <p:cNvSpPr>
            <a:spLocks noGrp="1"/>
          </p:cNvSpPr>
          <p:nvPr>
            <p:ph idx="1"/>
          </p:nvPr>
        </p:nvSpPr>
        <p:spPr>
          <a:xfrm>
            <a:off x="1392667" y="2398957"/>
            <a:ext cx="9406666" cy="3526144"/>
          </a:xfrm>
        </p:spPr>
        <p:txBody>
          <a:bodyPr>
            <a:normAutofit/>
          </a:bodyPr>
          <a:lstStyle/>
          <a:p>
            <a:pPr marL="0" indent="0">
              <a:buNone/>
            </a:pPr>
            <a:r>
              <a:rPr lang="en-IN" sz="2000" dirty="0">
                <a:solidFill>
                  <a:schemeClr val="bg1"/>
                </a:solidFill>
                <a:effectLst/>
                <a:latin typeface="Helvetica Neue" panose="02000503000000020004" pitchFamily="2" charset="0"/>
              </a:rPr>
              <a:t>To make the process easier of getting the economic insights for both Policy makers and Economists.</a:t>
            </a:r>
          </a:p>
          <a:p>
            <a:pPr marL="0" indent="0">
              <a:buNone/>
            </a:pPr>
            <a:endParaRPr lang="en-IN" sz="2000" dirty="0">
              <a:solidFill>
                <a:schemeClr val="bg1"/>
              </a:solidFill>
              <a:latin typeface="Helvetica Neue" panose="02000503000000020004" pitchFamily="2" charset="0"/>
            </a:endParaRPr>
          </a:p>
          <a:p>
            <a:pPr marL="0" indent="0">
              <a:buNone/>
            </a:pPr>
            <a:r>
              <a:rPr lang="en-IN" sz="2000" dirty="0">
                <a:solidFill>
                  <a:schemeClr val="bg1"/>
                </a:solidFill>
                <a:effectLst/>
                <a:latin typeface="Helvetica Neue" panose="02000503000000020004" pitchFamily="2" charset="0"/>
              </a:rPr>
              <a:t>Gainful for Investors and Importer/Exporters by implementing business strategies.</a:t>
            </a:r>
          </a:p>
          <a:p>
            <a:pPr marL="0" indent="0">
              <a:buNone/>
            </a:pPr>
            <a:endParaRPr lang="en-IN" sz="2000" dirty="0">
              <a:solidFill>
                <a:schemeClr val="bg1"/>
              </a:solidFill>
              <a:latin typeface="Helvetica Neue" panose="02000503000000020004" pitchFamily="2" charset="0"/>
            </a:endParaRPr>
          </a:p>
          <a:p>
            <a:pPr marL="0" indent="0">
              <a:buNone/>
            </a:pPr>
            <a:endParaRPr lang="en-IN" sz="2000" dirty="0">
              <a:solidFill>
                <a:schemeClr val="bg1"/>
              </a:solidFill>
              <a:effectLst/>
              <a:latin typeface="Helvetica Neue" panose="02000503000000020004" pitchFamily="2" charset="0"/>
            </a:endParaRPr>
          </a:p>
          <a:p>
            <a:pPr marL="0" indent="0">
              <a:buNone/>
            </a:pPr>
            <a:endParaRPr lang="en-IN" sz="2000" dirty="0">
              <a:solidFill>
                <a:schemeClr val="bg1"/>
              </a:solidFill>
              <a:effectLst/>
              <a:latin typeface="Helvetica Neue" panose="02000503000000020004" pitchFamily="2" charset="0"/>
            </a:endParaRPr>
          </a:p>
          <a:p>
            <a:pPr marL="0" indent="0">
              <a:buNone/>
            </a:pPr>
            <a:endParaRPr lang="en-IN" sz="2000" dirty="0">
              <a:solidFill>
                <a:schemeClr val="bg1"/>
              </a:solidFill>
              <a:effectLst/>
              <a:latin typeface="Helvetica Neue" panose="02000503000000020004" pitchFamily="2" charset="0"/>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0194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n placed on top of a signature line">
            <a:extLst>
              <a:ext uri="{FF2B5EF4-FFF2-40B4-BE49-F238E27FC236}">
                <a16:creationId xmlns:a16="http://schemas.microsoft.com/office/drawing/2014/main" id="{B9735D8A-BB4C-FB1C-307F-C1FAD9469461}"/>
              </a:ext>
            </a:extLst>
          </p:cNvPr>
          <p:cNvPicPr>
            <a:picLocks noChangeAspect="1"/>
          </p:cNvPicPr>
          <p:nvPr/>
        </p:nvPicPr>
        <p:blipFill>
          <a:blip r:embed="rId2"/>
          <a:srcRect l="15628" r="-1" b="-1"/>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017255-745D-D427-F050-2E425C3ABC9B}"/>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solidFill>
                  <a:schemeClr val="bg1"/>
                </a:solidFill>
              </a:rPr>
              <a:t>CONCLUSION</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96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DC6671C-56FD-6987-8010-8FDE31050D25}"/>
              </a:ext>
            </a:extLst>
          </p:cNvPr>
          <p:cNvSpPr>
            <a:spLocks noGrp="1"/>
          </p:cNvSpPr>
          <p:nvPr>
            <p:ph idx="1"/>
          </p:nvPr>
        </p:nvSpPr>
        <p:spPr>
          <a:xfrm>
            <a:off x="1392667" y="2398957"/>
            <a:ext cx="9406666" cy="3526144"/>
          </a:xfrm>
        </p:spPr>
        <p:txBody>
          <a:bodyPr>
            <a:normAutofit/>
          </a:bodyPr>
          <a:lstStyle/>
          <a:p>
            <a:pPr marL="0" indent="0">
              <a:buNone/>
            </a:pPr>
            <a:r>
              <a:rPr lang="en-US" sz="2000">
                <a:solidFill>
                  <a:schemeClr val="bg1"/>
                </a:solidFill>
              </a:rPr>
              <a:t>Analysis reveals that there is a strong link between exchange rates and inflation; this reflects that India's higher inflation corresponds to the depreciation of INR against USD in line with PPP. However, deviations from the expected PPP rate indicate that there are other determinants affecting its currency movements: trade dynamics and market conditions, among other things.</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1AC812-D59F-8C50-B770-999D0295A5AD}"/>
              </a:ext>
            </a:extLst>
          </p:cNvPr>
          <p:cNvSpPr>
            <a:spLocks noGrp="1"/>
          </p:cNvSpPr>
          <p:nvPr>
            <p:ph type="title"/>
          </p:nvPr>
        </p:nvSpPr>
        <p:spPr>
          <a:xfrm>
            <a:off x="838200" y="-2871851"/>
            <a:ext cx="10515600" cy="1325563"/>
          </a:xfrm>
        </p:spPr>
        <p:txBody>
          <a:bodyPr/>
          <a:lstStyle/>
          <a:p>
            <a:endParaRPr lang="en-US" dirty="0"/>
          </a:p>
        </p:txBody>
      </p:sp>
    </p:spTree>
    <p:extLst>
      <p:ext uri="{BB962C8B-B14F-4D97-AF65-F5344CB8AC3E}">
        <p14:creationId xmlns:p14="http://schemas.microsoft.com/office/powerpoint/2010/main" val="1554419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35536865-4A08-24B4-2C98-ED735AEE9797}"/>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sz="8800" kern="1200" dirty="0">
                <a:solidFill>
                  <a:schemeClr val="bg1"/>
                </a:solidFill>
                <a:latin typeface="+mj-lt"/>
                <a:ea typeface="+mj-ea"/>
                <a:cs typeface="+mj-cs"/>
              </a:rPr>
              <a:t>THANKS</a:t>
            </a:r>
          </a:p>
        </p:txBody>
      </p:sp>
      <p:sp>
        <p:nvSpPr>
          <p:cNvPr id="15" name="Rectangle 14">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66643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1602</TotalTime>
  <Words>655</Words>
  <Application>Microsoft Macintosh PowerPoint</Application>
  <PresentationFormat>Widescreen</PresentationFormat>
  <Paragraphs>65</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Calibri Light</vt:lpstr>
      <vt:lpstr>Helvetica Neue</vt:lpstr>
      <vt:lpstr>Times New Roman</vt:lpstr>
      <vt:lpstr>Office 2013 - 2022 Theme</vt:lpstr>
      <vt:lpstr>Impact of Inflation</vt:lpstr>
      <vt:lpstr>GROUP MEMBERS</vt:lpstr>
      <vt:lpstr>INTRODUCTION</vt:lpstr>
      <vt:lpstr>PowerPoint Presentation</vt:lpstr>
      <vt:lpstr>DATA COLLECTION</vt:lpstr>
      <vt:lpstr>PowerPoint Presentation</vt:lpstr>
      <vt:lpstr>DATA CLEANING</vt:lpstr>
      <vt:lpstr>PowerPoint Presentation</vt:lpstr>
      <vt:lpstr>Glimpse of both Data Sets</vt:lpstr>
      <vt:lpstr>Descriptive Analysis </vt:lpstr>
      <vt:lpstr>PowerPoint Presentation</vt:lpstr>
      <vt:lpstr>Exploratory Analysis</vt:lpstr>
      <vt:lpstr>PowerPoint Presentation</vt:lpstr>
      <vt:lpstr>PowerPoint Presentation</vt:lpstr>
      <vt:lpstr>PowerPoint Presentation</vt:lpstr>
      <vt:lpstr>PowerPoint Presentation</vt:lpstr>
      <vt:lpstr>PowerPoint Presentation</vt:lpstr>
      <vt:lpstr>PowerPoint Presentation</vt:lpstr>
      <vt:lpstr>BENEFITS</vt:lpstr>
      <vt:lpstr>CONCLUSION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Virgil Stanley Kalluvely</dc:creator>
  <cp:lastModifiedBy>Virgil Stanley Kalluvely</cp:lastModifiedBy>
  <cp:revision>5</cp:revision>
  <dcterms:created xsi:type="dcterms:W3CDTF">2025-01-04T21:29:11Z</dcterms:created>
  <dcterms:modified xsi:type="dcterms:W3CDTF">2025-01-11T23:38:07Z</dcterms:modified>
</cp:coreProperties>
</file>